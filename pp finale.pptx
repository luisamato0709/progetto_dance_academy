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3.jpe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4.jpeg"/><Relationship Id="rId4" Type="http://schemas.openxmlformats.org/officeDocument/2006/relationships/image" Target="../media/image39.pn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image" Target="../media/image41.png"/><Relationship Id="rId8" Type="http://schemas.openxmlformats.org/officeDocument/2006/relationships/image" Target="../media/image7.jpeg"/><Relationship Id="rId9" Type="http://schemas.openxmlformats.org/officeDocument/2006/relationships/image" Target="../media/image20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image" Target="../media/image21.png"/><Relationship Id="rId5" Type="http://schemas.openxmlformats.org/officeDocument/2006/relationships/image" Target="../media/image9.jpeg"/><Relationship Id="rId6" Type="http://schemas.openxmlformats.org/officeDocument/2006/relationships/image" Target="../media/image22.pn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40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766559" y="-2194561"/>
            <a:ext cx="5486401" cy="54864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1828801" y="3291840"/>
            <a:ext cx="4206242" cy="420624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7818119" y="502919"/>
            <a:ext cx="868681" cy="86868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7576" y="722376"/>
            <a:ext cx="429769" cy="429769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 3"/>
          <p:cNvSpPr txBox="1"/>
          <p:nvPr/>
        </p:nvSpPr>
        <p:spPr>
          <a:xfrm>
            <a:off x="640079" y="1094040"/>
            <a:ext cx="7863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400">
                <a:solidFill>
                  <a:srgbClr val="E5CBD7"/>
                </a:solidFill>
              </a:defRPr>
            </a:lvl1pPr>
          </a:lstStyle>
          <a:p>
            <a:pPr/>
            <a:r>
              <a:t>PROGETTO DATABASE E SISTEMA INFORMATIVO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079" y="1607819"/>
            <a:ext cx="7863842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Gestione di una</a:t>
            </a:r>
          </a:p>
          <a:p>
            <a:pPr>
              <a:defRPr b="1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Scuola di Danza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79" y="3370143"/>
            <a:ext cx="69494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E5CBD7"/>
                </a:solidFill>
              </a:defRPr>
            </a:lvl1pPr>
          </a:lstStyle>
          <a:p>
            <a:pPr/>
            <a:r>
              <a:t>Dalla progettazione concettuale all'implementazione in Django</a:t>
            </a:r>
          </a:p>
        </p:txBody>
      </p:sp>
      <p:sp>
        <p:nvSpPr>
          <p:cNvPr id="27" name="Shape 6"/>
          <p:cNvSpPr/>
          <p:nvPr/>
        </p:nvSpPr>
        <p:spPr>
          <a:xfrm>
            <a:off x="640080" y="3977640"/>
            <a:ext cx="3931921" cy="713233"/>
          </a:xfrm>
          <a:prstGeom prst="roundRect">
            <a:avLst>
              <a:gd name="adj" fmla="val 10256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7"/>
          <p:cNvSpPr txBox="1"/>
          <p:nvPr/>
        </p:nvSpPr>
        <p:spPr>
          <a:xfrm>
            <a:off x="868680" y="4146095"/>
            <a:ext cx="3657601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Luisa Amato</a:t>
            </a:r>
          </a:p>
          <a:p>
            <a:pPr>
              <a:defRPr sz="1200">
                <a:solidFill>
                  <a:srgbClr val="E5CBD7"/>
                </a:solidFill>
              </a:defRPr>
            </a:pPr>
            <a:r>
              <a:t>Matricola 0334000245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Analisi del dominio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La scuola di danza come dominio applicativo: attività, persone e processi da informatizzare.</a:t>
            </a:r>
          </a:p>
        </p:txBody>
      </p:sp>
      <p:sp>
        <p:nvSpPr>
          <p:cNvPr id="35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ANALISI DEL DOMINIO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Il dominio applicativo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457200" y="1276919"/>
            <a:ext cx="822960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B2024"/>
                </a:solidFill>
              </a:defRPr>
            </a:lvl1pPr>
          </a:lstStyle>
          <a:p>
            <a:pPr/>
            <a:r>
              <a:t>Il dominio scelto riguarda la gestione organizzativa di una scuola di danza, che svolge attività didattiche e organizzative articolate su più fronti.</a:t>
            </a:r>
          </a:p>
        </p:txBody>
      </p:sp>
      <p:sp>
        <p:nvSpPr>
          <p:cNvPr id="44" name="Shape 4"/>
          <p:cNvSpPr/>
          <p:nvPr/>
        </p:nvSpPr>
        <p:spPr>
          <a:xfrm>
            <a:off x="457200" y="1874520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Shape 5"/>
          <p:cNvSpPr/>
          <p:nvPr/>
        </p:nvSpPr>
        <p:spPr>
          <a:xfrm>
            <a:off x="658368" y="2075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668" y="2189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ext 6"/>
          <p:cNvSpPr txBox="1"/>
          <p:nvPr/>
        </p:nvSpPr>
        <p:spPr>
          <a:xfrm>
            <a:off x="1234439" y="221558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Attività didattiche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685800" y="262432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Corsi e lezioni organizzati per livello e fascia d'età, affidati a maestre specializzate.</a:t>
            </a:r>
          </a:p>
        </p:txBody>
      </p:sp>
      <p:sp>
        <p:nvSpPr>
          <p:cNvPr id="49" name="Shape 8"/>
          <p:cNvSpPr/>
          <p:nvPr/>
        </p:nvSpPr>
        <p:spPr>
          <a:xfrm>
            <a:off x="4800600" y="1874520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Shape 9"/>
          <p:cNvSpPr/>
          <p:nvPr/>
        </p:nvSpPr>
        <p:spPr>
          <a:xfrm>
            <a:off x="5001767" y="2075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16067" y="2189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10"/>
          <p:cNvSpPr txBox="1"/>
          <p:nvPr/>
        </p:nvSpPr>
        <p:spPr>
          <a:xfrm>
            <a:off x="5577840" y="22155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Persone</a:t>
            </a:r>
          </a:p>
        </p:txBody>
      </p:sp>
      <p:sp>
        <p:nvSpPr>
          <p:cNvPr id="53" name="Text 11"/>
          <p:cNvSpPr txBox="1"/>
          <p:nvPr/>
        </p:nvSpPr>
        <p:spPr>
          <a:xfrm>
            <a:off x="5029200" y="2624327"/>
            <a:ext cx="36118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Allieve iscritte ai corsi e maestre responsabili della didattica.</a:t>
            </a:r>
          </a:p>
        </p:txBody>
      </p:sp>
      <p:sp>
        <p:nvSpPr>
          <p:cNvPr id="54" name="Shape 12"/>
          <p:cNvSpPr/>
          <p:nvPr/>
        </p:nvSpPr>
        <p:spPr>
          <a:xfrm>
            <a:off x="457200" y="3337559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13"/>
          <p:cNvSpPr/>
          <p:nvPr/>
        </p:nvSpPr>
        <p:spPr>
          <a:xfrm>
            <a:off x="658368" y="353872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2668" y="365302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14"/>
          <p:cNvSpPr txBox="1"/>
          <p:nvPr/>
        </p:nvSpPr>
        <p:spPr>
          <a:xfrm>
            <a:off x="1234439" y="367862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Pagamenti</a:t>
            </a:r>
          </a:p>
        </p:txBody>
      </p:sp>
      <p:sp>
        <p:nvSpPr>
          <p:cNvPr id="58" name="Text 15"/>
          <p:cNvSpPr txBox="1"/>
          <p:nvPr/>
        </p:nvSpPr>
        <p:spPr>
          <a:xfrm>
            <a:off x="685800" y="408736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Quote delle allieve e compensi delle maestre, con scadenze e stati.</a:t>
            </a:r>
          </a:p>
        </p:txBody>
      </p:sp>
      <p:sp>
        <p:nvSpPr>
          <p:cNvPr id="59" name="Shape 16"/>
          <p:cNvSpPr/>
          <p:nvPr/>
        </p:nvSpPr>
        <p:spPr>
          <a:xfrm>
            <a:off x="4800600" y="3337559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17"/>
          <p:cNvSpPr/>
          <p:nvPr/>
        </p:nvSpPr>
        <p:spPr>
          <a:xfrm>
            <a:off x="5001767" y="353872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1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116067" y="365302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Text 18"/>
          <p:cNvSpPr txBox="1"/>
          <p:nvPr/>
        </p:nvSpPr>
        <p:spPr>
          <a:xfrm>
            <a:off x="5577840" y="367862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Eventi</a:t>
            </a:r>
          </a:p>
        </p:txBody>
      </p:sp>
      <p:sp>
        <p:nvSpPr>
          <p:cNvPr id="63" name="Text 19"/>
          <p:cNvSpPr txBox="1"/>
          <p:nvPr/>
        </p:nvSpPr>
        <p:spPr>
          <a:xfrm>
            <a:off x="5029200" y="408736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Saggi finali composti da coreografie, con costumi di scena da gestire.</a:t>
            </a:r>
          </a:p>
        </p:txBody>
      </p:sp>
      <p:sp>
        <p:nvSpPr>
          <p:cNvPr id="64" name="Text 20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ANALISI DEL DOMINIO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Obiettivi del sistema informativo</a:t>
            </a:r>
          </a:p>
        </p:txBody>
      </p:sp>
      <p:sp>
        <p:nvSpPr>
          <p:cNvPr id="70" name="Text 3"/>
          <p:cNvSpPr txBox="1"/>
          <p:nvPr/>
        </p:nvSpPr>
        <p:spPr>
          <a:xfrm>
            <a:off x="502920" y="1417319"/>
            <a:ext cx="4206240" cy="19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Raccogliere tutte le informazioni della scuola in un unico database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Ridurre il rischio di errori nella gestione dei dati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Rendere semplice la consultazione di corsi, pagamenti ed eventi</a:t>
            </a:r>
          </a:p>
          <a:p>
            <a:pPr marL="342900" indent="-342900"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Supportare l'organizzazione del saggio finale, dalle coreografie ai costumi</a:t>
            </a:r>
          </a:p>
        </p:txBody>
      </p:sp>
      <p:sp>
        <p:nvSpPr>
          <p:cNvPr id="71" name="Shape 4"/>
          <p:cNvSpPr/>
          <p:nvPr/>
        </p:nvSpPr>
        <p:spPr>
          <a:xfrm>
            <a:off x="5074920" y="1417319"/>
            <a:ext cx="3611880" cy="3200401"/>
          </a:xfrm>
          <a:prstGeom prst="roundRect">
            <a:avLst>
              <a:gd name="adj" fmla="val 2571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" name="Shape 5"/>
          <p:cNvSpPr/>
          <p:nvPr/>
        </p:nvSpPr>
        <p:spPr>
          <a:xfrm>
            <a:off x="6519671" y="1691639"/>
            <a:ext cx="731521" cy="73152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02552" y="187452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ext 6"/>
          <p:cNvSpPr txBox="1"/>
          <p:nvPr/>
        </p:nvSpPr>
        <p:spPr>
          <a:xfrm>
            <a:off x="5257799" y="2627062"/>
            <a:ext cx="32461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Utilizzatore principale</a:t>
            </a:r>
          </a:p>
        </p:txBody>
      </p:sp>
      <p:sp>
        <p:nvSpPr>
          <p:cNvPr id="75" name="Text 7"/>
          <p:cNvSpPr txBox="1"/>
          <p:nvPr/>
        </p:nvSpPr>
        <p:spPr>
          <a:xfrm>
            <a:off x="5349240" y="3114347"/>
            <a:ext cx="306324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0DEE7"/>
                </a:solidFill>
              </a:defRPr>
            </a:lvl1pPr>
          </a:lstStyle>
          <a:p>
            <a:pPr/>
            <a:r>
              <a:t>La segreteria o la docente responsabile: inserisce e aggiorna i dati di persone, corsi, pagamenti ed eventi.</a:t>
            </a:r>
          </a:p>
        </p:txBody>
      </p:sp>
      <p:sp>
        <p:nvSpPr>
          <p:cNvPr id="76" name="Text 8"/>
          <p:cNvSpPr txBox="1"/>
          <p:nvPr/>
        </p:nvSpPr>
        <p:spPr>
          <a:xfrm>
            <a:off x="5349240" y="4033696"/>
            <a:ext cx="306324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D9B6C5"/>
                </a:solidFill>
              </a:defRPr>
            </a:lvl1pPr>
          </a:lstStyle>
          <a:p>
            <a:pPr/>
            <a:r>
              <a:t>Gestionale interno: le allieve non accedono direttamente al sistema</a:t>
            </a:r>
          </a:p>
        </p:txBody>
      </p:sp>
      <p:sp>
        <p:nvSpPr>
          <p:cNvPr id="77" name="Text 9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Requisiti</a:t>
            </a:r>
          </a:p>
        </p:txBody>
      </p:sp>
      <p:sp>
        <p:nvSpPr>
          <p:cNvPr id="83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Quindici requisiti espressi in linguaggio naturale, poi classificati in entità, attributi, relazioni e vincoli.</a:t>
            </a:r>
          </a:p>
        </p:txBody>
      </p:sp>
      <p:sp>
        <p:nvSpPr>
          <p:cNvPr id="8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457200" y="292608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34340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1"/>
          <p:cNvSpPr txBox="1"/>
          <p:nvPr/>
        </p:nvSpPr>
        <p:spPr>
          <a:xfrm>
            <a:off x="1188719" y="33520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REQUISITI IN LINGUAGGIO NATURALE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1188719" y="548385"/>
            <a:ext cx="749808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 diciotto requisiti del sistema (R1 – R18)</a:t>
            </a:r>
          </a:p>
        </p:txBody>
      </p:sp>
      <p:graphicFrame>
        <p:nvGraphicFramePr>
          <p:cNvPr id="92" name="Table 0"/>
          <p:cNvGraphicFramePr/>
          <p:nvPr/>
        </p:nvGraphicFramePr>
        <p:xfrm>
          <a:off x="457200" y="1024127"/>
          <a:ext cx="8229600" cy="390906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48640"/>
                <a:gridCol w="7680960"/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</a:rPr>
                        <a:t>Cod.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</a:rPr>
                        <a:t>Requisito in linguaggio naturale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le persone coinvolte nella scuola, distinguendo tra allieve e maestre.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R2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allieva devono essere memorizzati nome, cognome, data di nascita, telefono, email, data di iscrizione e scadenza del certificato medico.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R3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maestra devono essere memorizzati nome, cognome, telefono, email, specializzazione e compenso mensile.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R4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La scuola organizza corsi di danza, caratterizzati da nome, livello e fascia d'età.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R5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corso deve essere affidato a una maestra responsabile.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R6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allieva può essere iscritta a un corso presente nel sistema.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R7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corso possono essere previste più lezioni, ognuna con giorno, ora di inizio, ora di fine e sala.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R8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i pagamenti delle allieve, con importo, scadenza, eventuale data di pagamento, stato e descrizione.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R9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anche i pagamenti delle maestre, intesi come compensi da corrispondere.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R10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La scuola organizza saggi finali, caratterizzati da titolo, data, luogo, ora di inizio, stato, numero di atti e durata totale.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R11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saggio contiene più coreografie, ciascuna con nome, atto, ordine di uscita, musica e durata.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R12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coreografia è associata a un corso ed è diretta da una maestra.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R13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Le coreografie possono richiedere costumi; per ogni costume si memorizzano nome, descrizione, taglia, prezzo, fornitore e stato dell'ordine.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R14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controllare se un costume assegnato a un'allieva per una coreografia è stato pagato e consegnato.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R15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Una maestra non deve poter essere assegnata a due lezioni nello stesso giorno e alla stessa ora.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R16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le competizioni di danza a cui partecipa la scuola.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R17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competizione devono essere memorizzati l'identificativo del concorso, la classifica e il numero dei giudici.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A26769"/>
                          </a:solidFill>
                        </a:rPr>
                        <a:t>R18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allieva può essere iscritta a una o più competizioni presenti nel sistema.</a:t>
                      </a:r>
                    </a:p>
                  </a:txBody>
                  <a:tcPr marL="18288" marR="18288" marT="18288" marB="18288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Text 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REQUISITI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1188719" y="604266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Dai requisiti ai concetti del modello</a:t>
            </a:r>
          </a:p>
        </p:txBody>
      </p:sp>
      <p:sp>
        <p:nvSpPr>
          <p:cNvPr id="99" name="Shape 3"/>
          <p:cNvSpPr/>
          <p:nvPr/>
        </p:nvSpPr>
        <p:spPr>
          <a:xfrm>
            <a:off x="457200" y="1188719"/>
            <a:ext cx="1975105" cy="1417321"/>
          </a:xfrm>
          <a:prstGeom prst="roundRect">
            <a:avLst>
              <a:gd name="adj" fmla="val 4516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 4"/>
          <p:cNvSpPr txBox="1"/>
          <p:nvPr/>
        </p:nvSpPr>
        <p:spPr>
          <a:xfrm>
            <a:off x="566928" y="1331784"/>
            <a:ext cx="17556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Entità</a:t>
            </a:r>
          </a:p>
        </p:txBody>
      </p:sp>
      <p:sp>
        <p:nvSpPr>
          <p:cNvPr id="101" name="Text 5"/>
          <p:cNvSpPr txBox="1"/>
          <p:nvPr/>
        </p:nvSpPr>
        <p:spPr>
          <a:xfrm>
            <a:off x="566928" y="1618995"/>
            <a:ext cx="1755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E5CBD7"/>
                </a:solidFill>
              </a:defRPr>
            </a:lvl1pPr>
          </a:lstStyle>
          <a:p>
            <a:pPr/>
            <a:r>
              <a:t>Oggetti con esistenza propria</a:t>
            </a:r>
          </a:p>
        </p:txBody>
      </p:sp>
      <p:sp>
        <p:nvSpPr>
          <p:cNvPr id="102" name="Text 6"/>
          <p:cNvSpPr txBox="1"/>
          <p:nvPr/>
        </p:nvSpPr>
        <p:spPr>
          <a:xfrm>
            <a:off x="566928" y="2069627"/>
            <a:ext cx="1755648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F0DEE7"/>
                </a:solidFill>
              </a:defRPr>
            </a:lvl1pPr>
          </a:lstStyle>
          <a:p>
            <a:pPr/>
            <a:r>
              <a:t>Allieva, Maestra, Corso, Lezione, Pagamento, Saggio, Coreografia, Costume</a:t>
            </a:r>
          </a:p>
        </p:txBody>
      </p:sp>
      <p:sp>
        <p:nvSpPr>
          <p:cNvPr id="103" name="Shape 7"/>
          <p:cNvSpPr/>
          <p:nvPr/>
        </p:nvSpPr>
        <p:spPr>
          <a:xfrm>
            <a:off x="2615183" y="1188719"/>
            <a:ext cx="1975106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Text 8"/>
          <p:cNvSpPr txBox="1"/>
          <p:nvPr/>
        </p:nvSpPr>
        <p:spPr>
          <a:xfrm>
            <a:off x="2724911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Attributi</a:t>
            </a:r>
          </a:p>
        </p:txBody>
      </p:sp>
      <p:sp>
        <p:nvSpPr>
          <p:cNvPr id="105" name="Text 9"/>
          <p:cNvSpPr txBox="1"/>
          <p:nvPr/>
        </p:nvSpPr>
        <p:spPr>
          <a:xfrm>
            <a:off x="2724911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A26769"/>
                </a:solidFill>
              </a:defRPr>
            </a:lvl1pPr>
          </a:lstStyle>
          <a:p>
            <a:pPr/>
            <a:r>
              <a:t>Proprietà descrittive</a:t>
            </a:r>
          </a:p>
        </p:txBody>
      </p:sp>
      <p:sp>
        <p:nvSpPr>
          <p:cNvPr id="106" name="Text 10"/>
          <p:cNvSpPr txBox="1"/>
          <p:nvPr/>
        </p:nvSpPr>
        <p:spPr>
          <a:xfrm>
            <a:off x="2724911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pPr/>
            <a:r>
              <a:t>Nome, cognome, telefono, email: descrivono le entità ma non vivono da soli</a:t>
            </a:r>
          </a:p>
        </p:txBody>
      </p:sp>
      <p:sp>
        <p:nvSpPr>
          <p:cNvPr id="107" name="Shape 11"/>
          <p:cNvSpPr/>
          <p:nvPr/>
        </p:nvSpPr>
        <p:spPr>
          <a:xfrm>
            <a:off x="4773167" y="1188719"/>
            <a:ext cx="1975106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12"/>
          <p:cNvSpPr txBox="1"/>
          <p:nvPr/>
        </p:nvSpPr>
        <p:spPr>
          <a:xfrm>
            <a:off x="4882896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Relazioni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4882896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A26769"/>
                </a:solidFill>
              </a:defRPr>
            </a:lvl1pPr>
          </a:lstStyle>
          <a:p>
            <a:pPr/>
            <a:r>
              <a:t>Legami tra entità</a:t>
            </a:r>
          </a:p>
        </p:txBody>
      </p:sp>
      <p:sp>
        <p:nvSpPr>
          <p:cNvPr id="110" name="Text 14"/>
          <p:cNvSpPr txBox="1"/>
          <p:nvPr/>
        </p:nvSpPr>
        <p:spPr>
          <a:xfrm>
            <a:off x="4882896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pPr/>
            <a:r>
              <a:t>Iscrizione (Allieva–Corso), Assegnazione costume (ternaria con attributi)</a:t>
            </a:r>
          </a:p>
        </p:txBody>
      </p:sp>
      <p:sp>
        <p:nvSpPr>
          <p:cNvPr id="111" name="Shape 15"/>
          <p:cNvSpPr/>
          <p:nvPr/>
        </p:nvSpPr>
        <p:spPr>
          <a:xfrm>
            <a:off x="6931152" y="1188719"/>
            <a:ext cx="1975105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Text 16"/>
          <p:cNvSpPr txBox="1"/>
          <p:nvPr/>
        </p:nvSpPr>
        <p:spPr>
          <a:xfrm>
            <a:off x="7040880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Vincoli</a:t>
            </a:r>
          </a:p>
        </p:txBody>
      </p:sp>
      <p:sp>
        <p:nvSpPr>
          <p:cNvPr id="113" name="Text 17"/>
          <p:cNvSpPr txBox="1"/>
          <p:nvPr/>
        </p:nvSpPr>
        <p:spPr>
          <a:xfrm>
            <a:off x="7040880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A26769"/>
                </a:solidFill>
              </a:defRPr>
            </a:lvl1pPr>
          </a:lstStyle>
          <a:p>
            <a:pPr/>
            <a:r>
              <a:t>Regole da controllare</a:t>
            </a:r>
          </a:p>
        </p:txBody>
      </p:sp>
      <p:sp>
        <p:nvSpPr>
          <p:cNvPr id="114" name="Text 18"/>
          <p:cNvSpPr txBox="1"/>
          <p:nvPr/>
        </p:nvSpPr>
        <p:spPr>
          <a:xfrm>
            <a:off x="7040880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pPr/>
            <a:r>
              <a:t>Sovrapposizione orari maestre: si implementa con trigger</a:t>
            </a:r>
          </a:p>
        </p:txBody>
      </p:sp>
      <p:sp>
        <p:nvSpPr>
          <p:cNvPr id="115" name="Text 19"/>
          <p:cNvSpPr txBox="1"/>
          <p:nvPr/>
        </p:nvSpPr>
        <p:spPr>
          <a:xfrm>
            <a:off x="457200" y="2848400"/>
            <a:ext cx="8229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A26769"/>
                </a:solidFill>
              </a:defRPr>
            </a:lvl1pPr>
          </a:lstStyle>
          <a:p>
            <a:pPr/>
            <a:r>
              <a:t>CLASSIFICAZIONE DEI CONCETTI</a:t>
            </a:r>
          </a:p>
        </p:txBody>
      </p:sp>
      <p:graphicFrame>
        <p:nvGraphicFramePr>
          <p:cNvPr id="116" name="Table 0"/>
          <p:cNvGraphicFramePr/>
          <p:nvPr/>
        </p:nvGraphicFramePr>
        <p:xfrm>
          <a:off x="457200" y="3063239"/>
          <a:ext cx="8229600" cy="204825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68880"/>
                <a:gridCol w="1463040"/>
                <a:gridCol w="429768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Concetto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Motivazione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Allieva, Maestra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Esistenza propria, attributi e relazioni specifiche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Nome, cognome, telefono, email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Attributi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Descrivono le persone, senza esistenza autonoma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Corso, Lezione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Lezione separata: un corso ha più lezioni in giorni diversi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Iscrizione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Relazione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Collega Allieva e Corso, esprime un legame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Pagamento, Saggio, Coreografia, Costume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Hanno dati propri (importi, date, musica, taglie...)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Assegnazione costume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Relazione con attr.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Lega allieva, costume e coreografia: pagato, consegnato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Sovrapposizione orari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Vincolo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Regola da controllare, implementata tramite trigger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" name="Text 20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Progettazione concettuale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Il modello Entità-Relazione: nove entità, dieci relazioni e una relazione ternaria con attributi.</a:t>
            </a:r>
          </a:p>
        </p:txBody>
      </p:sp>
      <p:sp>
        <p:nvSpPr>
          <p:cNvPr id="12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</a:t>
            </a:r>
          </a:p>
        </p:txBody>
      </p:sp>
      <p:sp>
        <p:nvSpPr>
          <p:cNvPr id="13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Le nove entità del modello</a:t>
            </a:r>
          </a:p>
        </p:txBody>
      </p:sp>
      <p:sp>
        <p:nvSpPr>
          <p:cNvPr id="132" name="Shape 3"/>
          <p:cNvSpPr/>
          <p:nvPr/>
        </p:nvSpPr>
        <p:spPr>
          <a:xfrm>
            <a:off x="457200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Shape 4"/>
          <p:cNvSpPr/>
          <p:nvPr/>
        </p:nvSpPr>
        <p:spPr>
          <a:xfrm>
            <a:off x="621791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5236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5"/>
          <p:cNvSpPr txBox="1"/>
          <p:nvPr/>
        </p:nvSpPr>
        <p:spPr>
          <a:xfrm>
            <a:off x="1234439" y="1781995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ALLIEVA</a:t>
            </a:r>
          </a:p>
        </p:txBody>
      </p:sp>
      <p:sp>
        <p:nvSpPr>
          <p:cNvPr id="136" name="Shape 6"/>
          <p:cNvSpPr/>
          <p:nvPr/>
        </p:nvSpPr>
        <p:spPr>
          <a:xfrm>
            <a:off x="3236976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Shape 7"/>
          <p:cNvSpPr/>
          <p:nvPr/>
        </p:nvSpPr>
        <p:spPr>
          <a:xfrm>
            <a:off x="3401567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25011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 8"/>
          <p:cNvSpPr txBox="1"/>
          <p:nvPr/>
        </p:nvSpPr>
        <p:spPr>
          <a:xfrm>
            <a:off x="4014215" y="1781995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MAESTRA</a:t>
            </a:r>
          </a:p>
        </p:txBody>
      </p:sp>
      <p:sp>
        <p:nvSpPr>
          <p:cNvPr id="140" name="Shape 9"/>
          <p:cNvSpPr/>
          <p:nvPr/>
        </p:nvSpPr>
        <p:spPr>
          <a:xfrm>
            <a:off x="6016752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Shape 10"/>
          <p:cNvSpPr/>
          <p:nvPr/>
        </p:nvSpPr>
        <p:spPr>
          <a:xfrm>
            <a:off x="6181344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04788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 11"/>
          <p:cNvSpPr txBox="1"/>
          <p:nvPr/>
        </p:nvSpPr>
        <p:spPr>
          <a:xfrm>
            <a:off x="6793992" y="1781995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CORSO</a:t>
            </a:r>
          </a:p>
        </p:txBody>
      </p:sp>
      <p:sp>
        <p:nvSpPr>
          <p:cNvPr id="144" name="Shape 12"/>
          <p:cNvSpPr/>
          <p:nvPr/>
        </p:nvSpPr>
        <p:spPr>
          <a:xfrm>
            <a:off x="457200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Shape 13"/>
          <p:cNvSpPr/>
          <p:nvPr/>
        </p:nvSpPr>
        <p:spPr>
          <a:xfrm>
            <a:off x="621791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6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45236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14"/>
          <p:cNvSpPr txBox="1"/>
          <p:nvPr/>
        </p:nvSpPr>
        <p:spPr>
          <a:xfrm>
            <a:off x="1234439" y="2934139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LEZIONE</a:t>
            </a:r>
          </a:p>
        </p:txBody>
      </p:sp>
      <p:sp>
        <p:nvSpPr>
          <p:cNvPr id="148" name="Shape 15"/>
          <p:cNvSpPr/>
          <p:nvPr/>
        </p:nvSpPr>
        <p:spPr>
          <a:xfrm>
            <a:off x="3236976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Shape 16"/>
          <p:cNvSpPr/>
          <p:nvPr/>
        </p:nvSpPr>
        <p:spPr>
          <a:xfrm>
            <a:off x="3401567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0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525011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 17"/>
          <p:cNvSpPr txBox="1"/>
          <p:nvPr/>
        </p:nvSpPr>
        <p:spPr>
          <a:xfrm>
            <a:off x="4014215" y="2934139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PAGAMENTO ALLIEVA</a:t>
            </a:r>
          </a:p>
        </p:txBody>
      </p:sp>
      <p:sp>
        <p:nvSpPr>
          <p:cNvPr id="152" name="Shape 18"/>
          <p:cNvSpPr/>
          <p:nvPr/>
        </p:nvSpPr>
        <p:spPr>
          <a:xfrm>
            <a:off x="6016752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Shape 19"/>
          <p:cNvSpPr/>
          <p:nvPr/>
        </p:nvSpPr>
        <p:spPr>
          <a:xfrm>
            <a:off x="6181344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4" name="Image 6" descr="Imag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304788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20"/>
          <p:cNvSpPr txBox="1"/>
          <p:nvPr/>
        </p:nvSpPr>
        <p:spPr>
          <a:xfrm>
            <a:off x="6793992" y="2934139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PAGAMENTO MAESTRA</a:t>
            </a:r>
          </a:p>
        </p:txBody>
      </p:sp>
      <p:sp>
        <p:nvSpPr>
          <p:cNvPr id="156" name="Shape 21"/>
          <p:cNvSpPr/>
          <p:nvPr/>
        </p:nvSpPr>
        <p:spPr>
          <a:xfrm>
            <a:off x="457200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Shape 22"/>
          <p:cNvSpPr/>
          <p:nvPr/>
        </p:nvSpPr>
        <p:spPr>
          <a:xfrm>
            <a:off x="621791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8" name="Image 7" descr="Imag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45236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23"/>
          <p:cNvSpPr txBox="1"/>
          <p:nvPr/>
        </p:nvSpPr>
        <p:spPr>
          <a:xfrm>
            <a:off x="1234439" y="4086283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SAGGIO</a:t>
            </a:r>
          </a:p>
        </p:txBody>
      </p:sp>
      <p:sp>
        <p:nvSpPr>
          <p:cNvPr id="160" name="Shape 24"/>
          <p:cNvSpPr/>
          <p:nvPr/>
        </p:nvSpPr>
        <p:spPr>
          <a:xfrm>
            <a:off x="3236976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7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Shape 25"/>
          <p:cNvSpPr/>
          <p:nvPr/>
        </p:nvSpPr>
        <p:spPr>
          <a:xfrm>
            <a:off x="3401567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2" name="Image 8" descr="Imag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525011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26"/>
          <p:cNvSpPr txBox="1"/>
          <p:nvPr/>
        </p:nvSpPr>
        <p:spPr>
          <a:xfrm>
            <a:off x="4014215" y="4086283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53145"/>
                </a:solidFill>
              </a:defRPr>
            </a:lvl1pPr>
          </a:lstStyle>
          <a:p>
            <a:pPr/>
            <a:r>
              <a:t>COREOGRAFIA</a:t>
            </a:r>
          </a:p>
        </p:txBody>
      </p:sp>
      <p:sp>
        <p:nvSpPr>
          <p:cNvPr id="164" name="Shape 27"/>
          <p:cNvSpPr/>
          <p:nvPr/>
        </p:nvSpPr>
        <p:spPr>
          <a:xfrm>
            <a:off x="6016752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7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Shape 28"/>
          <p:cNvSpPr/>
          <p:nvPr/>
        </p:nvSpPr>
        <p:spPr>
          <a:xfrm>
            <a:off x="6181344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6" name="Image 9" descr="Imag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304788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29"/>
          <p:cNvSpPr txBox="1"/>
          <p:nvPr/>
        </p:nvSpPr>
        <p:spPr>
          <a:xfrm>
            <a:off x="6793992" y="4086283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COSTUME</a:t>
            </a:r>
          </a:p>
        </p:txBody>
      </p:sp>
      <p:sp>
        <p:nvSpPr>
          <p:cNvPr id="168" name="Text 30"/>
          <p:cNvSpPr txBox="1"/>
          <p:nvPr/>
        </p:nvSpPr>
        <p:spPr>
          <a:xfrm>
            <a:off x="457200" y="4676447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A6A70"/>
                </a:solidFill>
              </a:defRPr>
            </a:lvl1pPr>
          </a:lstStyle>
          <a:p>
            <a:pPr/>
            <a:r>
              <a:t>Ogni entità rappresenta un oggetto o un evento significativo del dominio, con attributi propri e relazioni con gli altri elementi.</a:t>
            </a:r>
          </a:p>
        </p:txBody>
      </p:sp>
      <p:sp>
        <p:nvSpPr>
          <p:cNvPr id="169" name="Text 3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 · ENTITÀ</a:t>
            </a:r>
          </a:p>
        </p:txBody>
      </p:sp>
      <p:sp>
        <p:nvSpPr>
          <p:cNvPr id="174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ALLIEVA e MAESTRA</a:t>
            </a:r>
          </a:p>
        </p:txBody>
      </p:sp>
      <p:sp>
        <p:nvSpPr>
          <p:cNvPr id="175" name="Shape 3"/>
          <p:cNvSpPr/>
          <p:nvPr/>
        </p:nvSpPr>
        <p:spPr>
          <a:xfrm>
            <a:off x="457200" y="1371600"/>
            <a:ext cx="4069080" cy="3291841"/>
          </a:xfrm>
          <a:prstGeom prst="roundRect">
            <a:avLst>
              <a:gd name="adj" fmla="val 25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Shape 4"/>
          <p:cNvSpPr/>
          <p:nvPr/>
        </p:nvSpPr>
        <p:spPr>
          <a:xfrm>
            <a:off x="685799" y="1600199"/>
            <a:ext cx="548642" cy="548642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2960" y="173736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5"/>
          <p:cNvSpPr txBox="1"/>
          <p:nvPr/>
        </p:nvSpPr>
        <p:spPr>
          <a:xfrm>
            <a:off x="1371599" y="1741169"/>
            <a:ext cx="29260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ALLIEVA</a:t>
            </a:r>
          </a:p>
        </p:txBody>
      </p:sp>
      <p:sp>
        <p:nvSpPr>
          <p:cNvPr id="179" name="Text 6"/>
          <p:cNvSpPr txBox="1"/>
          <p:nvPr/>
        </p:nvSpPr>
        <p:spPr>
          <a:xfrm>
            <a:off x="713231" y="2593516"/>
            <a:ext cx="35661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Le studentesse della scuola: partecipano ai corsi, effettuano pagamenti e ricevono i costumi per il saggio.</a:t>
            </a:r>
          </a:p>
        </p:txBody>
      </p:sp>
      <p:sp>
        <p:nvSpPr>
          <p:cNvPr id="180" name="Text 7"/>
          <p:cNvSpPr txBox="1"/>
          <p:nvPr/>
        </p:nvSpPr>
        <p:spPr>
          <a:xfrm>
            <a:off x="713231" y="3296920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26769"/>
                </a:solidFill>
              </a:defRPr>
            </a:lvl1pPr>
          </a:lstStyle>
          <a:p>
            <a:pPr/>
            <a:r>
              <a:t>ATTRIBUTI PRINCIPALI</a:t>
            </a:r>
          </a:p>
        </p:txBody>
      </p:sp>
      <p:sp>
        <p:nvSpPr>
          <p:cNvPr id="181" name="Text 8"/>
          <p:cNvSpPr txBox="1"/>
          <p:nvPr/>
        </p:nvSpPr>
        <p:spPr>
          <a:xfrm>
            <a:off x="713231" y="3850816"/>
            <a:ext cx="356616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A6A70"/>
                </a:solidFill>
              </a:defRPr>
            </a:lvl1pPr>
          </a:lstStyle>
          <a:p>
            <a:pPr/>
            <a:r>
              <a:t>id_allieva, nome, cognome, data_nascita, telefono, email, data_iscrizione, certificato_medico</a:t>
            </a:r>
          </a:p>
        </p:txBody>
      </p:sp>
      <p:sp>
        <p:nvSpPr>
          <p:cNvPr id="182" name="Shape 9"/>
          <p:cNvSpPr/>
          <p:nvPr/>
        </p:nvSpPr>
        <p:spPr>
          <a:xfrm>
            <a:off x="4617720" y="1371600"/>
            <a:ext cx="4069080" cy="3291841"/>
          </a:xfrm>
          <a:prstGeom prst="roundRect">
            <a:avLst>
              <a:gd name="adj" fmla="val 25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Shape 10"/>
          <p:cNvSpPr/>
          <p:nvPr/>
        </p:nvSpPr>
        <p:spPr>
          <a:xfrm>
            <a:off x="4846320" y="1600199"/>
            <a:ext cx="548641" cy="548642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83479" y="173736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11"/>
          <p:cNvSpPr txBox="1"/>
          <p:nvPr/>
        </p:nvSpPr>
        <p:spPr>
          <a:xfrm>
            <a:off x="5532120" y="1741169"/>
            <a:ext cx="29260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MAESTRA</a:t>
            </a:r>
          </a:p>
        </p:txBody>
      </p:sp>
      <p:sp>
        <p:nvSpPr>
          <p:cNvPr id="186" name="Text 12"/>
          <p:cNvSpPr txBox="1"/>
          <p:nvPr/>
        </p:nvSpPr>
        <p:spPr>
          <a:xfrm>
            <a:off x="4873752" y="2593516"/>
            <a:ext cx="35661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Le insegnanti: separate da Allieva perché hanno attributi specifici come specializzazione e compenso mensile.</a:t>
            </a:r>
          </a:p>
        </p:txBody>
      </p:sp>
      <p:sp>
        <p:nvSpPr>
          <p:cNvPr id="187" name="Text 13"/>
          <p:cNvSpPr txBox="1"/>
          <p:nvPr/>
        </p:nvSpPr>
        <p:spPr>
          <a:xfrm>
            <a:off x="4873752" y="3296920"/>
            <a:ext cx="3566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A26769"/>
                </a:solidFill>
              </a:defRPr>
            </a:lvl1pPr>
          </a:lstStyle>
          <a:p>
            <a:pPr/>
            <a:r>
              <a:t>ATTRIBUTI PRINCIPALI</a:t>
            </a:r>
          </a:p>
        </p:txBody>
      </p:sp>
      <p:sp>
        <p:nvSpPr>
          <p:cNvPr id="188" name="Text 14"/>
          <p:cNvSpPr txBox="1"/>
          <p:nvPr/>
        </p:nvSpPr>
        <p:spPr>
          <a:xfrm>
            <a:off x="4873752" y="3850816"/>
            <a:ext cx="35661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A6A70"/>
                </a:solidFill>
              </a:defRPr>
            </a:lvl1pPr>
          </a:lstStyle>
          <a:p>
            <a:pPr/>
            <a:r>
              <a:t>id_maestra, nome, cognome, telefono, email, specializzazione, compenso_mensile</a:t>
            </a:r>
          </a:p>
        </p:txBody>
      </p:sp>
      <p:sp>
        <p:nvSpPr>
          <p:cNvPr id="189" name="Text 1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 · ENTITÀ</a:t>
            </a:r>
          </a:p>
        </p:txBody>
      </p:sp>
      <p:sp>
        <p:nvSpPr>
          <p:cNvPr id="194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CORSO e LEZIONE</a:t>
            </a:r>
          </a:p>
        </p:txBody>
      </p:sp>
      <p:sp>
        <p:nvSpPr>
          <p:cNvPr id="195" name="Shape 3"/>
          <p:cNvSpPr/>
          <p:nvPr/>
        </p:nvSpPr>
        <p:spPr>
          <a:xfrm>
            <a:off x="457200" y="137160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Text 4"/>
          <p:cNvSpPr txBox="1"/>
          <p:nvPr/>
        </p:nvSpPr>
        <p:spPr>
          <a:xfrm>
            <a:off x="713231" y="1628647"/>
            <a:ext cx="35661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CORSO</a:t>
            </a:r>
          </a:p>
        </p:txBody>
      </p:sp>
      <p:sp>
        <p:nvSpPr>
          <p:cNvPr id="197" name="Text 5"/>
          <p:cNvSpPr txBox="1"/>
          <p:nvPr/>
        </p:nvSpPr>
        <p:spPr>
          <a:xfrm>
            <a:off x="713231" y="2218358"/>
            <a:ext cx="356616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L'organizzazione didattica della scuola: ogni corso ha un nome, un livello e una fascia d'età ed è affidato a una maestra responsabile.</a:t>
            </a:r>
          </a:p>
        </p:txBody>
      </p:sp>
      <p:sp>
        <p:nvSpPr>
          <p:cNvPr id="198" name="Text 6"/>
          <p:cNvSpPr txBox="1"/>
          <p:nvPr/>
        </p:nvSpPr>
        <p:spPr>
          <a:xfrm>
            <a:off x="713231" y="3156126"/>
            <a:ext cx="35661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A26769"/>
                </a:solidFill>
              </a:defRPr>
            </a:lvl1pPr>
          </a:lstStyle>
          <a:p>
            <a:pPr/>
            <a:r>
              <a:t>nome · livello · fascia_età</a:t>
            </a:r>
          </a:p>
        </p:txBody>
      </p:sp>
      <p:sp>
        <p:nvSpPr>
          <p:cNvPr id="199" name="Shape 7"/>
          <p:cNvSpPr/>
          <p:nvPr/>
        </p:nvSpPr>
        <p:spPr>
          <a:xfrm>
            <a:off x="4617720" y="137160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Text 8"/>
          <p:cNvSpPr txBox="1"/>
          <p:nvPr/>
        </p:nvSpPr>
        <p:spPr>
          <a:xfrm>
            <a:off x="4873752" y="1628647"/>
            <a:ext cx="3566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LEZIONE</a:t>
            </a:r>
          </a:p>
        </p:txBody>
      </p:sp>
      <p:sp>
        <p:nvSpPr>
          <p:cNvPr id="201" name="Text 9"/>
          <p:cNvSpPr txBox="1"/>
          <p:nvPr/>
        </p:nvSpPr>
        <p:spPr>
          <a:xfrm>
            <a:off x="4873752" y="2300908"/>
            <a:ext cx="35661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La singola occorrenza oraria di un corso: giorno della settimana, ora di inizio, ora di fine e sala in cui si svolge.</a:t>
            </a:r>
          </a:p>
        </p:txBody>
      </p:sp>
      <p:sp>
        <p:nvSpPr>
          <p:cNvPr id="202" name="Text 10"/>
          <p:cNvSpPr txBox="1"/>
          <p:nvPr/>
        </p:nvSpPr>
        <p:spPr>
          <a:xfrm>
            <a:off x="4873752" y="3156126"/>
            <a:ext cx="35661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A26769"/>
                </a:solidFill>
              </a:defRPr>
            </a:lvl1pPr>
          </a:lstStyle>
          <a:p>
            <a:pPr/>
            <a:r>
              <a:t>giorno · ora_inizio · ora_fine · sala</a:t>
            </a:r>
          </a:p>
        </p:txBody>
      </p:sp>
      <p:sp>
        <p:nvSpPr>
          <p:cNvPr id="203" name="Shape 11"/>
          <p:cNvSpPr/>
          <p:nvPr/>
        </p:nvSpPr>
        <p:spPr>
          <a:xfrm>
            <a:off x="457200" y="3886200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Text 12"/>
          <p:cNvSpPr txBox="1"/>
          <p:nvPr/>
        </p:nvSpPr>
        <p:spPr>
          <a:xfrm>
            <a:off x="731520" y="4237159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Perché due entità distinte?  </a:t>
            </a:r>
            <a:r>
              <a:rPr b="0">
                <a:solidFill>
                  <a:srgbClr val="F0DEE7"/>
                </a:solidFill>
              </a:rPr>
              <a:t>Un corso può avere più appuntamenti settimanali: Corso non coincide con Lezione.</a:t>
            </a:r>
          </a:p>
        </p:txBody>
      </p:sp>
      <p:sp>
        <p:nvSpPr>
          <p:cNvPr id="205" name="Text 1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 · ENTITÀ</a:t>
            </a:r>
          </a:p>
        </p:txBody>
      </p:sp>
      <p:sp>
        <p:nvSpPr>
          <p:cNvPr id="210" name="Text 2"/>
          <p:cNvSpPr txBox="1"/>
          <p:nvPr/>
        </p:nvSpPr>
        <p:spPr>
          <a:xfrm>
            <a:off x="1188719" y="394715"/>
            <a:ext cx="7498082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PAGAMENTO ALLIEVA e PAGAMENTO MAESTRA</a:t>
            </a:r>
          </a:p>
        </p:txBody>
      </p:sp>
      <p:sp>
        <p:nvSpPr>
          <p:cNvPr id="211" name="Shape 3"/>
          <p:cNvSpPr/>
          <p:nvPr/>
        </p:nvSpPr>
        <p:spPr>
          <a:xfrm>
            <a:off x="457200" y="1371600"/>
            <a:ext cx="4069080" cy="2194561"/>
          </a:xfrm>
          <a:prstGeom prst="roundRect">
            <a:avLst>
              <a:gd name="adj" fmla="val 3333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" name="Shape 4"/>
          <p:cNvSpPr/>
          <p:nvPr/>
        </p:nvSpPr>
        <p:spPr>
          <a:xfrm>
            <a:off x="65836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66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5"/>
          <p:cNvSpPr txBox="1"/>
          <p:nvPr/>
        </p:nvSpPr>
        <p:spPr>
          <a:xfrm>
            <a:off x="1234439" y="171266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PAGAMENTO ALLIEVA</a:t>
            </a:r>
          </a:p>
        </p:txBody>
      </p:sp>
      <p:sp>
        <p:nvSpPr>
          <p:cNvPr id="215" name="Text 6"/>
          <p:cNvSpPr txBox="1"/>
          <p:nvPr/>
        </p:nvSpPr>
        <p:spPr>
          <a:xfrm>
            <a:off x="685800" y="2121407"/>
            <a:ext cx="3611880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Gestisce le quote versate dalle allieve: importo, data di scadenza, eventuale data di pagamento, stato e descrizione. Permette di controllare ritardi e quote ancora da versare.</a:t>
            </a:r>
          </a:p>
        </p:txBody>
      </p:sp>
      <p:sp>
        <p:nvSpPr>
          <p:cNvPr id="216" name="Shape 7"/>
          <p:cNvSpPr/>
          <p:nvPr/>
        </p:nvSpPr>
        <p:spPr>
          <a:xfrm>
            <a:off x="4617720" y="1371600"/>
            <a:ext cx="4069080" cy="2194561"/>
          </a:xfrm>
          <a:prstGeom prst="roundRect">
            <a:avLst>
              <a:gd name="adj" fmla="val 3333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Shape 8"/>
          <p:cNvSpPr/>
          <p:nvPr/>
        </p:nvSpPr>
        <p:spPr>
          <a:xfrm>
            <a:off x="481888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8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318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ext 9"/>
          <p:cNvSpPr txBox="1"/>
          <p:nvPr/>
        </p:nvSpPr>
        <p:spPr>
          <a:xfrm>
            <a:off x="5394959" y="171266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PAGAMENTO MAESTRA</a:t>
            </a:r>
          </a:p>
        </p:txBody>
      </p:sp>
      <p:sp>
        <p:nvSpPr>
          <p:cNvPr id="220" name="Text 10"/>
          <p:cNvSpPr txBox="1"/>
          <p:nvPr/>
        </p:nvSpPr>
        <p:spPr>
          <a:xfrm>
            <a:off x="4846320" y="2121407"/>
            <a:ext cx="3611881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Gestisce i compensi da corrispondere alle maestre. Tenuto separato dalle quote delle allieve perché rappresenta un flusso economico di natura diversa (uscita, non entrata).</a:t>
            </a:r>
          </a:p>
        </p:txBody>
      </p:sp>
      <p:sp>
        <p:nvSpPr>
          <p:cNvPr id="221" name="Shape 11"/>
          <p:cNvSpPr/>
          <p:nvPr/>
        </p:nvSpPr>
        <p:spPr>
          <a:xfrm>
            <a:off x="457200" y="3840479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F3E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2"/>
          <p:cNvSpPr txBox="1"/>
          <p:nvPr/>
        </p:nvSpPr>
        <p:spPr>
          <a:xfrm>
            <a:off x="731520" y="4191438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D2E46"/>
                </a:solidFill>
              </a:defRPr>
            </a:pPr>
            <a:r>
              <a:t>Stati ammessi:  </a:t>
            </a:r>
            <a:r>
              <a:rPr b="0">
                <a:solidFill>
                  <a:srgbClr val="2B2024"/>
                </a:solidFill>
              </a:rPr>
              <a:t>Pagato · Da pagare · In ritardo</a:t>
            </a:r>
            <a:r>
              <a:rPr b="0" i="1" sz="1100">
                <a:solidFill>
                  <a:srgbClr val="7A6A70"/>
                </a:solidFill>
              </a:rPr>
              <a:t>   (vincolo di dominio sull'attributo stato)</a:t>
            </a:r>
          </a:p>
        </p:txBody>
      </p:sp>
      <p:sp>
        <p:nvSpPr>
          <p:cNvPr id="223" name="Text 1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 · ENTITÀ</a:t>
            </a:r>
          </a:p>
        </p:txBody>
      </p:sp>
      <p:sp>
        <p:nvSpPr>
          <p:cNvPr id="228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SAGGIO, COREOGRAFIA e COSTUME</a:t>
            </a:r>
          </a:p>
        </p:txBody>
      </p:sp>
      <p:sp>
        <p:nvSpPr>
          <p:cNvPr id="229" name="Shape 3"/>
          <p:cNvSpPr/>
          <p:nvPr/>
        </p:nvSpPr>
        <p:spPr>
          <a:xfrm>
            <a:off x="457200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Shape 4"/>
          <p:cNvSpPr/>
          <p:nvPr/>
        </p:nvSpPr>
        <p:spPr>
          <a:xfrm>
            <a:off x="658367" y="1572767"/>
            <a:ext cx="502922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3641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Text 5"/>
          <p:cNvSpPr txBox="1"/>
          <p:nvPr/>
        </p:nvSpPr>
        <p:spPr>
          <a:xfrm>
            <a:off x="1280160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SAGGIO</a:t>
            </a:r>
          </a:p>
        </p:txBody>
      </p:sp>
      <p:sp>
        <p:nvSpPr>
          <p:cNvPr id="233" name="Text 6"/>
          <p:cNvSpPr txBox="1"/>
          <p:nvPr/>
        </p:nvSpPr>
        <p:spPr>
          <a:xfrm>
            <a:off x="685800" y="2693846"/>
            <a:ext cx="224028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L'evento finale della scuola: titolo, data, luogo, ora di inizio, stato, numero di atti e durata totale.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685800" y="4046264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A26769"/>
                </a:solidFill>
              </a:defRPr>
            </a:lvl1pPr>
          </a:lstStyle>
          <a:p>
            <a:pPr/>
            <a:r>
              <a:t>Contiene più coreografie</a:t>
            </a:r>
          </a:p>
        </p:txBody>
      </p:sp>
      <p:sp>
        <p:nvSpPr>
          <p:cNvPr id="235" name="Shape 8"/>
          <p:cNvSpPr/>
          <p:nvPr/>
        </p:nvSpPr>
        <p:spPr>
          <a:xfrm>
            <a:off x="3319271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Shape 9"/>
          <p:cNvSpPr/>
          <p:nvPr/>
        </p:nvSpPr>
        <p:spPr>
          <a:xfrm>
            <a:off x="3520440" y="1572767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45713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ext 10"/>
          <p:cNvSpPr txBox="1"/>
          <p:nvPr/>
        </p:nvSpPr>
        <p:spPr>
          <a:xfrm>
            <a:off x="4142232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COREOGRAFIA</a:t>
            </a:r>
          </a:p>
        </p:txBody>
      </p:sp>
      <p:sp>
        <p:nvSpPr>
          <p:cNvPr id="239" name="Text 11"/>
          <p:cNvSpPr txBox="1"/>
          <p:nvPr/>
        </p:nvSpPr>
        <p:spPr>
          <a:xfrm>
            <a:off x="3547871" y="2776396"/>
            <a:ext cx="22402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La singola esibizione del saggio: nome, atto, ordine di uscita, musica e durata.</a:t>
            </a:r>
          </a:p>
        </p:txBody>
      </p:sp>
      <p:sp>
        <p:nvSpPr>
          <p:cNvPr id="240" name="Text 12"/>
          <p:cNvSpPr txBox="1"/>
          <p:nvPr/>
        </p:nvSpPr>
        <p:spPr>
          <a:xfrm>
            <a:off x="3547871" y="3963714"/>
            <a:ext cx="22402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A26769"/>
                </a:solidFill>
              </a:defRPr>
            </a:lvl1pPr>
          </a:lstStyle>
          <a:p>
            <a:pPr/>
            <a:r>
              <a:t>Associata a un corso, diretta da una maestra</a:t>
            </a:r>
          </a:p>
        </p:txBody>
      </p:sp>
      <p:sp>
        <p:nvSpPr>
          <p:cNvPr id="241" name="Shape 13"/>
          <p:cNvSpPr/>
          <p:nvPr/>
        </p:nvSpPr>
        <p:spPr>
          <a:xfrm>
            <a:off x="6181344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Shape 14"/>
          <p:cNvSpPr/>
          <p:nvPr/>
        </p:nvSpPr>
        <p:spPr>
          <a:xfrm>
            <a:off x="6382511" y="1572767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07784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 15"/>
          <p:cNvSpPr txBox="1"/>
          <p:nvPr/>
        </p:nvSpPr>
        <p:spPr>
          <a:xfrm>
            <a:off x="7004304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COSTUME</a:t>
            </a:r>
          </a:p>
        </p:txBody>
      </p:sp>
      <p:sp>
        <p:nvSpPr>
          <p:cNvPr id="245" name="Text 16"/>
          <p:cNvSpPr txBox="1"/>
          <p:nvPr/>
        </p:nvSpPr>
        <p:spPr>
          <a:xfrm>
            <a:off x="6409944" y="2693846"/>
            <a:ext cx="224028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L'abito di scena: nome, descrizione, taglia, prezzo, fornitore e stato dell'ordine.</a:t>
            </a:r>
          </a:p>
        </p:txBody>
      </p:sp>
      <p:sp>
        <p:nvSpPr>
          <p:cNvPr id="246" name="Text 17"/>
          <p:cNvSpPr txBox="1"/>
          <p:nvPr/>
        </p:nvSpPr>
        <p:spPr>
          <a:xfrm>
            <a:off x="6409944" y="4046264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A26769"/>
                </a:solidFill>
              </a:defRPr>
            </a:lvl1pPr>
          </a:lstStyle>
          <a:p>
            <a:pPr/>
            <a:r>
              <a:t>Assegnato alle allieve per le coreografie</a:t>
            </a:r>
          </a:p>
        </p:txBody>
      </p:sp>
      <p:sp>
        <p:nvSpPr>
          <p:cNvPr id="247" name="Text 18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MODELLO E-R</a:t>
            </a:r>
          </a:p>
        </p:txBody>
      </p:sp>
      <p:sp>
        <p:nvSpPr>
          <p:cNvPr id="252" name="Text 2"/>
          <p:cNvSpPr txBox="1"/>
          <p:nvPr/>
        </p:nvSpPr>
        <p:spPr>
          <a:xfrm>
            <a:off x="1188719" y="604266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Relazioni e cardinalità</a:t>
            </a:r>
          </a:p>
        </p:txBody>
      </p:sp>
      <p:graphicFrame>
        <p:nvGraphicFramePr>
          <p:cNvPr id="253" name="Table 0"/>
          <p:cNvGraphicFramePr/>
          <p:nvPr/>
        </p:nvGraphicFramePr>
        <p:xfrm>
          <a:off x="457200" y="1234439"/>
          <a:ext cx="8229600" cy="36210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17320"/>
                <a:gridCol w="2011679"/>
                <a:gridCol w="685800"/>
                <a:gridCol w="41148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Relazione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Entità coinvolte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Card.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Motivazione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ISCRIZIONE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 –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allieve nello stesso corso; ogni allieva associata a un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INSEGNA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insegna più corsi; ogni corso ha una responsabile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PREVEDE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Corso – Lezione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 corso ha più lezioni; ogni lezione appartiene a un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TIENE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Lezione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tiene più lezioni; ogni lezione ha una maestra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EFFETTUA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 – Pag. Allieva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Un'allieva può effettuare più pagamenti nel tempo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RICEVE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Pag. Maestra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può ricevere più compensi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CONTIENE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Saggio – Coreografia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 saggio è composto da più coreografie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DIRETTA DA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Coreografia – Maestra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coreografie dirette dalla stessa maestra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ASSOCIATA 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Coreografia –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coreografie associate allo stesso corso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D2E46"/>
                          </a:solidFill>
                        </a:rPr>
                        <a:t>ASSEGNAZIONE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2B2024"/>
                          </a:solidFill>
                        </a:rPr>
                        <a:t>Allieva – Costume – Coreografia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A26769"/>
                          </a:solidFill>
                        </a:rPr>
                        <a:t>N:N:N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6D2E46"/>
                          </a:solidFill>
                        </a:rPr>
                        <a:t>Relazione ternaria con attributi: pagato e consegnato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4" name="Text 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6fc32a6a-f5be-4849-b2b6-0126217987ab.JPG" descr="6fc32a6a-f5be-4849-b2b6-0126217987ab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0"/>
            <a:ext cx="6858001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61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Generalizzazione</a:t>
            </a:r>
          </a:p>
        </p:txBody>
      </p:sp>
      <p:sp>
        <p:nvSpPr>
          <p:cNvPr id="262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PERSONA come entità padre, ALLIEVA e MAESTRA come figlie: due alternative di traduzione a confronto.</a:t>
            </a:r>
          </a:p>
        </p:txBody>
      </p:sp>
      <p:sp>
        <p:nvSpPr>
          <p:cNvPr id="263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7"/>
          <p:cNvSpPr/>
          <p:nvPr/>
        </p:nvSpPr>
        <p:spPr>
          <a:xfrm>
            <a:off x="3083686" y="2016213"/>
            <a:ext cx="370588" cy="1042494"/>
          </a:xfrm>
          <a:prstGeom prst="line">
            <a:avLst/>
          </a:prstGeom>
          <a:ln w="25400">
            <a:solidFill>
              <a:srgbClr val="A267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6"/>
          <p:cNvSpPr/>
          <p:nvPr/>
        </p:nvSpPr>
        <p:spPr>
          <a:xfrm flipH="1">
            <a:off x="1060850" y="2033368"/>
            <a:ext cx="484340" cy="1008184"/>
          </a:xfrm>
          <a:prstGeom prst="line">
            <a:avLst/>
          </a:prstGeom>
          <a:ln w="25400">
            <a:solidFill>
              <a:srgbClr val="A267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7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GENERALIZZAZIONE</a:t>
            </a:r>
          </a:p>
        </p:txBody>
      </p:sp>
      <p:sp>
        <p:nvSpPr>
          <p:cNvPr id="27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PERSONA → ALLIEVA / MAESTRA</a:t>
            </a:r>
          </a:p>
        </p:txBody>
      </p:sp>
      <p:sp>
        <p:nvSpPr>
          <p:cNvPr id="273" name="Shape 3"/>
          <p:cNvSpPr/>
          <p:nvPr/>
        </p:nvSpPr>
        <p:spPr>
          <a:xfrm>
            <a:off x="1371600" y="1417319"/>
            <a:ext cx="1828800" cy="640081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Text 4"/>
          <p:cNvSpPr txBox="1"/>
          <p:nvPr/>
        </p:nvSpPr>
        <p:spPr>
          <a:xfrm>
            <a:off x="1371600" y="1642680"/>
            <a:ext cx="1828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PERSONA</a:t>
            </a:r>
          </a:p>
        </p:txBody>
      </p:sp>
      <p:sp>
        <p:nvSpPr>
          <p:cNvPr id="275" name="Text 5"/>
          <p:cNvSpPr txBox="1"/>
          <p:nvPr/>
        </p:nvSpPr>
        <p:spPr>
          <a:xfrm>
            <a:off x="640079" y="2140204"/>
            <a:ext cx="32918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7A6A70"/>
                </a:solidFill>
              </a:defRPr>
            </a:lvl1pPr>
          </a:lstStyle>
          <a:p>
            <a:pPr/>
            <a:r>
              <a:t>nome, cognome, telefono, email</a:t>
            </a:r>
          </a:p>
        </p:txBody>
      </p:sp>
      <p:sp>
        <p:nvSpPr>
          <p:cNvPr id="276" name="Shape 8"/>
          <p:cNvSpPr/>
          <p:nvPr/>
        </p:nvSpPr>
        <p:spPr>
          <a:xfrm>
            <a:off x="457200" y="3017520"/>
            <a:ext cx="1691640" cy="640081"/>
          </a:xfrm>
          <a:prstGeom prst="roundRect">
            <a:avLst>
              <a:gd name="adj" fmla="val 10000"/>
            </a:avLst>
          </a:prstGeom>
          <a:solidFill>
            <a:srgbClr val="A26769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Text 9"/>
          <p:cNvSpPr txBox="1"/>
          <p:nvPr/>
        </p:nvSpPr>
        <p:spPr>
          <a:xfrm>
            <a:off x="457200" y="3254179"/>
            <a:ext cx="16916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ALLIEVA</a:t>
            </a:r>
          </a:p>
        </p:txBody>
      </p:sp>
      <p:sp>
        <p:nvSpPr>
          <p:cNvPr id="278" name="Shape 10"/>
          <p:cNvSpPr/>
          <p:nvPr/>
        </p:nvSpPr>
        <p:spPr>
          <a:xfrm>
            <a:off x="2423160" y="3017520"/>
            <a:ext cx="1691640" cy="640081"/>
          </a:xfrm>
          <a:prstGeom prst="roundRect">
            <a:avLst>
              <a:gd name="adj" fmla="val 10000"/>
            </a:avLst>
          </a:prstGeom>
          <a:solidFill>
            <a:srgbClr val="A26769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" name="Text 11"/>
          <p:cNvSpPr txBox="1"/>
          <p:nvPr/>
        </p:nvSpPr>
        <p:spPr>
          <a:xfrm>
            <a:off x="2423160" y="3254179"/>
            <a:ext cx="16916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MAESTRA</a:t>
            </a:r>
          </a:p>
        </p:txBody>
      </p:sp>
      <p:sp>
        <p:nvSpPr>
          <p:cNvPr id="280" name="Text 12"/>
          <p:cNvSpPr txBox="1"/>
          <p:nvPr/>
        </p:nvSpPr>
        <p:spPr>
          <a:xfrm>
            <a:off x="274320" y="3850553"/>
            <a:ext cx="20574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7A6A70"/>
                </a:solidFill>
              </a:defRPr>
            </a:pPr>
            <a:r>
              <a:t>data_nascita, data_iscrizione,</a:t>
            </a:r>
          </a:p>
          <a:p>
            <a:pPr algn="ctr">
              <a:defRPr i="1" sz="900">
                <a:solidFill>
                  <a:srgbClr val="7A6A70"/>
                </a:solidFill>
              </a:defRPr>
            </a:pPr>
            <a:r>
              <a:t>certificato_medico</a:t>
            </a:r>
          </a:p>
        </p:txBody>
      </p:sp>
      <p:sp>
        <p:nvSpPr>
          <p:cNvPr id="281" name="Text 13"/>
          <p:cNvSpPr txBox="1"/>
          <p:nvPr/>
        </p:nvSpPr>
        <p:spPr>
          <a:xfrm>
            <a:off x="2331720" y="3850553"/>
            <a:ext cx="18745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7A6A70"/>
                </a:solidFill>
              </a:defRPr>
            </a:pPr>
            <a:r>
              <a:t>specializzazione,</a:t>
            </a:r>
          </a:p>
          <a:p>
            <a:pPr algn="ctr">
              <a:defRPr i="1" sz="900">
                <a:solidFill>
                  <a:srgbClr val="7A6A70"/>
                </a:solidFill>
              </a:defRPr>
            </a:pPr>
            <a:r>
              <a:t>compenso_mensile</a:t>
            </a:r>
          </a:p>
        </p:txBody>
      </p:sp>
      <p:sp>
        <p:nvSpPr>
          <p:cNvPr id="282" name="Shape 14"/>
          <p:cNvSpPr/>
          <p:nvPr/>
        </p:nvSpPr>
        <p:spPr>
          <a:xfrm>
            <a:off x="4617720" y="1417319"/>
            <a:ext cx="4069080" cy="1463041"/>
          </a:xfrm>
          <a:prstGeom prst="roundRect">
            <a:avLst>
              <a:gd name="adj" fmla="val 50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" name="Shape 15"/>
          <p:cNvSpPr/>
          <p:nvPr/>
        </p:nvSpPr>
        <p:spPr>
          <a:xfrm>
            <a:off x="4818888" y="16184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3188" y="17327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 16"/>
          <p:cNvSpPr txBox="1"/>
          <p:nvPr/>
        </p:nvSpPr>
        <p:spPr>
          <a:xfrm>
            <a:off x="5394959" y="17583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Disgiunta</a:t>
            </a:r>
          </a:p>
        </p:txBody>
      </p:sp>
      <p:sp>
        <p:nvSpPr>
          <p:cNvPr id="286" name="Text 17"/>
          <p:cNvSpPr txBox="1"/>
          <p:nvPr/>
        </p:nvSpPr>
        <p:spPr>
          <a:xfrm>
            <a:off x="4846320" y="216712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Una persona è trattata nel sistema o come allieva o come maestra, mai entrambe.</a:t>
            </a:r>
          </a:p>
        </p:txBody>
      </p:sp>
      <p:sp>
        <p:nvSpPr>
          <p:cNvPr id="287" name="Shape 18"/>
          <p:cNvSpPr/>
          <p:nvPr/>
        </p:nvSpPr>
        <p:spPr>
          <a:xfrm>
            <a:off x="4617720" y="3017520"/>
            <a:ext cx="4069080" cy="1463041"/>
          </a:xfrm>
          <a:prstGeom prst="roundRect">
            <a:avLst>
              <a:gd name="adj" fmla="val 50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Shape 19"/>
          <p:cNvSpPr/>
          <p:nvPr/>
        </p:nvSpPr>
        <p:spPr>
          <a:xfrm>
            <a:off x="4818888" y="3218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33188" y="3332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 20"/>
          <p:cNvSpPr txBox="1"/>
          <p:nvPr/>
        </p:nvSpPr>
        <p:spPr>
          <a:xfrm>
            <a:off x="5394959" y="33585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Totale</a:t>
            </a:r>
          </a:p>
        </p:txBody>
      </p:sp>
      <p:sp>
        <p:nvSpPr>
          <p:cNvPr id="291" name="Text 21"/>
          <p:cNvSpPr txBox="1"/>
          <p:nvPr/>
        </p:nvSpPr>
        <p:spPr>
          <a:xfrm>
            <a:off x="4846320" y="3767328"/>
            <a:ext cx="3611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Tutte le persone registrate appartengono necessariamente a una delle due categorie.</a:t>
            </a:r>
          </a:p>
        </p:txBody>
      </p:sp>
      <p:sp>
        <p:nvSpPr>
          <p:cNvPr id="292" name="Text 22"/>
          <p:cNvSpPr txBox="1"/>
          <p:nvPr/>
        </p:nvSpPr>
        <p:spPr>
          <a:xfrm>
            <a:off x="457200" y="4653587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A6A70"/>
                </a:solidFill>
              </a:defRPr>
            </a:lvl1pPr>
          </a:lstStyle>
          <a:p>
            <a:pPr/>
            <a:r>
              <a:t>La generalizzazione è significativa: le figlie hanno attributi e relazioni specifiche, non un semplice attributo “ruolo”.</a:t>
            </a:r>
          </a:p>
        </p:txBody>
      </p:sp>
      <p:sp>
        <p:nvSpPr>
          <p:cNvPr id="293" name="Text 2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GENERALIZZAZIONE · TRADUZIONE</a:t>
            </a:r>
          </a:p>
        </p:txBody>
      </p:sp>
      <p:sp>
        <p:nvSpPr>
          <p:cNvPr id="298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Alternativa 1 — Accorpamento al padre</a:t>
            </a:r>
          </a:p>
        </p:txBody>
      </p:sp>
      <p:sp>
        <p:nvSpPr>
          <p:cNvPr id="299" name="Shape 3"/>
          <p:cNvSpPr/>
          <p:nvPr/>
        </p:nvSpPr>
        <p:spPr>
          <a:xfrm>
            <a:off x="457200" y="1371600"/>
            <a:ext cx="8229600" cy="777241"/>
          </a:xfrm>
          <a:prstGeom prst="roundRect">
            <a:avLst>
              <a:gd name="adj" fmla="val 8235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Text 4"/>
          <p:cNvSpPr txBox="1"/>
          <p:nvPr/>
        </p:nvSpPr>
        <p:spPr>
          <a:xfrm>
            <a:off x="685800" y="1607819"/>
            <a:ext cx="7772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PERSONA(id_persona, nome, cognome, telefono, email, ruolo, data_nascita, data_iscrizione, certificato_medico, id_corso, specializzazione, compenso_mensile)</a:t>
            </a:r>
          </a:p>
        </p:txBody>
      </p:sp>
      <p:sp>
        <p:nvSpPr>
          <p:cNvPr id="301" name="Shape 5"/>
          <p:cNvSpPr/>
          <p:nvPr/>
        </p:nvSpPr>
        <p:spPr>
          <a:xfrm>
            <a:off x="457200" y="2331720"/>
            <a:ext cx="4069080" cy="2331721"/>
          </a:xfrm>
          <a:prstGeom prst="roundRect">
            <a:avLst>
              <a:gd name="adj" fmla="val 313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" name="Text 6"/>
          <p:cNvSpPr txBox="1"/>
          <p:nvPr/>
        </p:nvSpPr>
        <p:spPr>
          <a:xfrm>
            <a:off x="713231" y="2552508"/>
            <a:ext cx="35661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Vantaggi</a:t>
            </a:r>
          </a:p>
        </p:txBody>
      </p:sp>
      <p:sp>
        <p:nvSpPr>
          <p:cNvPr id="303" name="Text 7"/>
          <p:cNvSpPr txBox="1"/>
          <p:nvPr/>
        </p:nvSpPr>
        <p:spPr>
          <a:xfrm>
            <a:off x="758951" y="2852927"/>
            <a:ext cx="3474721" cy="896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Evita la duplicazione degli attributi comuni (nome, cognome, telefono, email)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Tutte le persone interrogabili con una sola tabella</a:t>
            </a:r>
          </a:p>
        </p:txBody>
      </p:sp>
      <p:sp>
        <p:nvSpPr>
          <p:cNvPr id="304" name="Shape 8"/>
          <p:cNvSpPr/>
          <p:nvPr/>
        </p:nvSpPr>
        <p:spPr>
          <a:xfrm>
            <a:off x="4617720" y="2331720"/>
            <a:ext cx="4069080" cy="2331721"/>
          </a:xfrm>
          <a:prstGeom prst="roundRect">
            <a:avLst>
              <a:gd name="adj" fmla="val 3137"/>
            </a:avLst>
          </a:prstGeom>
          <a:solidFill>
            <a:srgbClr val="F3EAE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Text 9"/>
          <p:cNvSpPr txBox="1"/>
          <p:nvPr/>
        </p:nvSpPr>
        <p:spPr>
          <a:xfrm>
            <a:off x="4873752" y="2552508"/>
            <a:ext cx="35661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Svantaggi</a:t>
            </a:r>
          </a:p>
        </p:txBody>
      </p:sp>
      <p:sp>
        <p:nvSpPr>
          <p:cNvPr id="306" name="Text 10"/>
          <p:cNvSpPr txBox="1"/>
          <p:nvPr/>
        </p:nvSpPr>
        <p:spPr>
          <a:xfrm>
            <a:off x="4919472" y="2852927"/>
            <a:ext cx="3474720" cy="1353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Molti valori NULL: i campi dell'allieva non servono alla maestra e viceversa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Richiede CHECK sul campo ruolo e vincoli condizionali complessi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Le relazioni devono riferirsi solo a persone del ruolo corretto</a:t>
            </a:r>
          </a:p>
        </p:txBody>
      </p:sp>
      <p:sp>
        <p:nvSpPr>
          <p:cNvPr id="307" name="Text 1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GENERALIZZAZIONE · TRADUZIONE</a:t>
            </a:r>
          </a:p>
        </p:txBody>
      </p:sp>
      <p:sp>
        <p:nvSpPr>
          <p:cNvPr id="31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Alternativa 2 — Accorpamento alle figlie</a:t>
            </a:r>
          </a:p>
        </p:txBody>
      </p:sp>
      <p:sp>
        <p:nvSpPr>
          <p:cNvPr id="313" name="Shape 3"/>
          <p:cNvSpPr/>
          <p:nvPr/>
        </p:nvSpPr>
        <p:spPr>
          <a:xfrm>
            <a:off x="457200" y="1371600"/>
            <a:ext cx="8229600" cy="1097281"/>
          </a:xfrm>
          <a:prstGeom prst="roundRect">
            <a:avLst>
              <a:gd name="adj" fmla="val 5833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Text 4"/>
          <p:cNvSpPr txBox="1"/>
          <p:nvPr/>
        </p:nvSpPr>
        <p:spPr>
          <a:xfrm>
            <a:off x="685800" y="1653539"/>
            <a:ext cx="77724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ALLIEVA(id_allieva, nome, cognome, telefono, email, data_nascita, data_iscrizione, certificato_medico, id_corso)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MAESTRA(id_maestra, nome, cognome, telefono, email, specializzazione, compenso_mensile)</a:t>
            </a:r>
          </a:p>
        </p:txBody>
      </p:sp>
      <p:sp>
        <p:nvSpPr>
          <p:cNvPr id="315" name="Shape 5"/>
          <p:cNvSpPr/>
          <p:nvPr/>
        </p:nvSpPr>
        <p:spPr>
          <a:xfrm>
            <a:off x="457200" y="265176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Text 6"/>
          <p:cNvSpPr txBox="1"/>
          <p:nvPr/>
        </p:nvSpPr>
        <p:spPr>
          <a:xfrm>
            <a:off x="713231" y="2872548"/>
            <a:ext cx="35661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Vantaggi</a:t>
            </a:r>
          </a:p>
        </p:txBody>
      </p:sp>
      <p:sp>
        <p:nvSpPr>
          <p:cNvPr id="317" name="Text 7"/>
          <p:cNvSpPr txBox="1"/>
          <p:nvPr/>
        </p:nvSpPr>
        <p:spPr>
          <a:xfrm>
            <a:off x="758951" y="3172967"/>
            <a:ext cx="3474721" cy="116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Ogni tabella contiene solo attributi coerenti con il proprio ruolo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Relazioni specifiche più semplici da rappresentare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Vincoli semplici e diretti</a:t>
            </a:r>
          </a:p>
        </p:txBody>
      </p:sp>
      <p:sp>
        <p:nvSpPr>
          <p:cNvPr id="318" name="Shape 8"/>
          <p:cNvSpPr/>
          <p:nvPr/>
        </p:nvSpPr>
        <p:spPr>
          <a:xfrm>
            <a:off x="4617720" y="265176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3EAE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Text 9"/>
          <p:cNvSpPr txBox="1"/>
          <p:nvPr/>
        </p:nvSpPr>
        <p:spPr>
          <a:xfrm>
            <a:off x="4873752" y="2872548"/>
            <a:ext cx="35661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Svantaggi</a:t>
            </a:r>
          </a:p>
        </p:txBody>
      </p:sp>
      <p:sp>
        <p:nvSpPr>
          <p:cNvPr id="320" name="Text 10"/>
          <p:cNvSpPr txBox="1"/>
          <p:nvPr/>
        </p:nvSpPr>
        <p:spPr>
          <a:xfrm>
            <a:off x="4919472" y="3172967"/>
            <a:ext cx="3474720" cy="705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Gli attributi comuni (nome, cognome, telefono, email) sono ripetuti nelle due tabelle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Ridondanza però leggera e accettabile</a:t>
            </a:r>
          </a:p>
        </p:txBody>
      </p:sp>
      <p:sp>
        <p:nvSpPr>
          <p:cNvPr id="321" name="Text 1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GENERALIZZAZIONE</a:t>
            </a:r>
          </a:p>
        </p:txBody>
      </p:sp>
      <p:sp>
        <p:nvSpPr>
          <p:cNvPr id="326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La scelta adottata</a:t>
            </a:r>
          </a:p>
        </p:txBody>
      </p:sp>
      <p:sp>
        <p:nvSpPr>
          <p:cNvPr id="327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32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627632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ext 4"/>
          <p:cNvSpPr txBox="1"/>
          <p:nvPr/>
        </p:nvSpPr>
        <p:spPr>
          <a:xfrm>
            <a:off x="1417319" y="1742134"/>
            <a:ext cx="704088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solidFill>
                  <a:srgbClr val="FFFFFF"/>
                </a:solidFill>
              </a:defRPr>
            </a:pPr>
            <a:r>
              <a:t>Accorpamento alle figlie:  </a:t>
            </a:r>
            <a:r>
              <a:rPr b="0">
                <a:solidFill>
                  <a:srgbClr val="F0DEE7"/>
                </a:solidFill>
              </a:rPr>
              <a:t>due tabelle separate, ALLIEVA e MAESTRA</a:t>
            </a:r>
          </a:p>
        </p:txBody>
      </p:sp>
      <p:sp>
        <p:nvSpPr>
          <p:cNvPr id="330" name="Shape 5"/>
          <p:cNvSpPr/>
          <p:nvPr/>
        </p:nvSpPr>
        <p:spPr>
          <a:xfrm>
            <a:off x="457200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Shape 6"/>
          <p:cNvSpPr/>
          <p:nvPr/>
        </p:nvSpPr>
        <p:spPr>
          <a:xfrm>
            <a:off x="658368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2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668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7"/>
          <p:cNvSpPr txBox="1"/>
          <p:nvPr/>
        </p:nvSpPr>
        <p:spPr>
          <a:xfrm>
            <a:off x="1234439" y="2956998"/>
            <a:ext cx="176479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Ruoli realmente diversi</a:t>
            </a:r>
          </a:p>
        </p:txBody>
      </p:sp>
      <p:sp>
        <p:nvSpPr>
          <p:cNvPr id="334" name="Text 8"/>
          <p:cNvSpPr txBox="1"/>
          <p:nvPr/>
        </p:nvSpPr>
        <p:spPr>
          <a:xfrm>
            <a:off x="685799" y="3355847"/>
            <a:ext cx="2221994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L'allieva è legata a iscrizione, corso, pagamenti e costumi; la maestra a corsi, lezioni, coreografie e compensi.</a:t>
            </a:r>
          </a:p>
        </p:txBody>
      </p:sp>
      <p:sp>
        <p:nvSpPr>
          <p:cNvPr id="335" name="Shape 9"/>
          <p:cNvSpPr/>
          <p:nvPr/>
        </p:nvSpPr>
        <p:spPr>
          <a:xfrm>
            <a:off x="3319271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" name="Shape 10"/>
          <p:cNvSpPr/>
          <p:nvPr/>
        </p:nvSpPr>
        <p:spPr>
          <a:xfrm>
            <a:off x="3520440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7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34740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Text 11"/>
          <p:cNvSpPr txBox="1"/>
          <p:nvPr/>
        </p:nvSpPr>
        <p:spPr>
          <a:xfrm>
            <a:off x="4096511" y="2956998"/>
            <a:ext cx="176479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Niente campi nulli</a:t>
            </a:r>
          </a:p>
        </p:txBody>
      </p:sp>
      <p:sp>
        <p:nvSpPr>
          <p:cNvPr id="339" name="Text 12"/>
          <p:cNvSpPr txBox="1"/>
          <p:nvPr/>
        </p:nvSpPr>
        <p:spPr>
          <a:xfrm>
            <a:off x="3547871" y="3355847"/>
            <a:ext cx="2221993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Ogni tabella contiene solo i dati pertinenti: si evitano colonne vuote e incoerenze.</a:t>
            </a:r>
          </a:p>
        </p:txBody>
      </p:sp>
      <p:sp>
        <p:nvSpPr>
          <p:cNvPr id="340" name="Shape 13"/>
          <p:cNvSpPr/>
          <p:nvPr/>
        </p:nvSpPr>
        <p:spPr>
          <a:xfrm>
            <a:off x="6181344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" name="Shape 14"/>
          <p:cNvSpPr/>
          <p:nvPr/>
        </p:nvSpPr>
        <p:spPr>
          <a:xfrm>
            <a:off x="6382511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42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96811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15"/>
          <p:cNvSpPr txBox="1"/>
          <p:nvPr/>
        </p:nvSpPr>
        <p:spPr>
          <a:xfrm>
            <a:off x="6958583" y="2956998"/>
            <a:ext cx="1764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Vincoli più semplici</a:t>
            </a:r>
          </a:p>
        </p:txBody>
      </p:sp>
      <p:sp>
        <p:nvSpPr>
          <p:cNvPr id="344" name="Text 16"/>
          <p:cNvSpPr txBox="1"/>
          <p:nvPr/>
        </p:nvSpPr>
        <p:spPr>
          <a:xfrm>
            <a:off x="6409943" y="3355847"/>
            <a:ext cx="2221994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Nessun controllo complesso sul ruolo: l'integrità è garantita dalla struttura stessa.</a:t>
            </a:r>
          </a:p>
        </p:txBody>
      </p:sp>
      <p:sp>
        <p:nvSpPr>
          <p:cNvPr id="345" name="Text 1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9d8eba9b-4211-4190-b98e-0cfec67e796b.JPG" descr="9d8eba9b-4211-4190-b98e-0cfec67e796b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4374" y="0"/>
            <a:ext cx="7715251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5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Progettazione logica</a:t>
            </a:r>
          </a:p>
        </p:txBody>
      </p:sp>
      <p:sp>
        <p:nvSpPr>
          <p:cNvPr id="353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Dal modello E-R allo schema relazionale: tabelle, chiavi, normalizzazione, vincoli e trigger.</a:t>
            </a:r>
          </a:p>
        </p:txBody>
      </p:sp>
      <p:sp>
        <p:nvSpPr>
          <p:cNvPr id="35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PROGETTAZIONE LOGICA</a:t>
            </a:r>
          </a:p>
        </p:txBody>
      </p:sp>
      <p:sp>
        <p:nvSpPr>
          <p:cNvPr id="36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Schema logico relazionale</a:t>
            </a:r>
          </a:p>
        </p:txBody>
      </p:sp>
      <p:sp>
        <p:nvSpPr>
          <p:cNvPr id="362" name="Shape 3"/>
          <p:cNvSpPr/>
          <p:nvPr/>
        </p:nvSpPr>
        <p:spPr>
          <a:xfrm>
            <a:off x="457200" y="137160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31242B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Text 4"/>
          <p:cNvSpPr txBox="1"/>
          <p:nvPr/>
        </p:nvSpPr>
        <p:spPr>
          <a:xfrm>
            <a:off x="543278" y="1531620"/>
            <a:ext cx="7680961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MAESTRA</a:t>
            </a:r>
            <a:r>
              <a:rPr b="0">
                <a:solidFill>
                  <a:srgbClr val="EDE4E8"/>
                </a:solidFill>
              </a:rPr>
              <a:t>(id_maestra PK, nome, cognome, telefono, email, specializzazione, compenso_mensile)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CORSO</a:t>
            </a:r>
            <a:r>
              <a:rPr b="0">
                <a:solidFill>
                  <a:srgbClr val="EDE4E8"/>
                </a:solidFill>
              </a:rPr>
              <a:t>(id_corso PK, nome, livello, fascia_eta, id_maestra FK → MAESTRA)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ALLIEVA</a:t>
            </a:r>
            <a:r>
              <a:rPr b="0">
                <a:solidFill>
                  <a:srgbClr val="EDE4E8"/>
                </a:solidFill>
              </a:rPr>
              <a:t>(id_allieva PK, nome, cognome, data_nascita, telefono, email, data_iscrizione, certificato_medico, id_corso FK → CORSO)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LEZIONE</a:t>
            </a:r>
            <a:r>
              <a:rPr b="0">
                <a:solidFill>
                  <a:srgbClr val="EDE4E8"/>
                </a:solidFill>
              </a:rPr>
              <a:t>(id_lezione PK, giorno_settimana, ora_inizio, ora_fine, sala, id_corso FK → CORSO, id_maestra FK → MAESTRA)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PAGAMENTO_ALLIEVA</a:t>
            </a:r>
            <a:r>
              <a:rPr b="0">
                <a:solidFill>
                  <a:srgbClr val="EDE4E8"/>
                </a:solidFill>
              </a:rPr>
              <a:t>(id_pagamento PK, id_allieva FK → ALLIEVA, importo, data_scadenza, data_pagamento, stato, descrizione)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PAGAMENTO_MAESTRA</a:t>
            </a:r>
            <a:r>
              <a:rPr b="0">
                <a:solidFill>
                  <a:srgbClr val="EDE4E8"/>
                </a:solidFill>
              </a:rPr>
              <a:t>(id_pagamento PK, id_maestra FK → MAESTRA, importo, data_scadenza, data_pagamento, stato, descrizione)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SAGGIO</a:t>
            </a:r>
            <a:r>
              <a:rPr b="0">
                <a:solidFill>
                  <a:srgbClr val="EDE4E8"/>
                </a:solidFill>
              </a:rPr>
              <a:t>(id_saggio PK, titolo, data, luogo, ora_inizio, stato, numero_atti, durata_totale)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COREOGRAFIA</a:t>
            </a:r>
            <a:r>
              <a:rPr b="0">
                <a:solidFill>
                  <a:srgbClr val="EDE4E8"/>
                </a:solidFill>
              </a:rPr>
              <a:t>(id_coreografia PK, nome, id_saggio FK → SAGGIO, id_corso FK → CORSO, id_maestra FK → MAESTRA, atto, ordine_uscita, musica, durata)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COSTUME</a:t>
            </a:r>
            <a:r>
              <a:rPr b="0">
                <a:solidFill>
                  <a:srgbClr val="EDE4E8"/>
                </a:solidFill>
              </a:rPr>
              <a:t>(id_costume PK, nome, descrizione, taglia, prezzo, fornitore, stato_ordine)</a:t>
            </a:r>
            <a:endParaRPr b="0">
              <a:solidFill>
                <a:srgbClr val="EDE4E8"/>
              </a:solidFill>
            </a:endParaR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800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ASSEGNAZIONE_COSTUMI</a:t>
            </a:r>
            <a:r>
              <a:rPr b="0">
                <a:solidFill>
                  <a:srgbClr val="EDE4E8"/>
                </a:solidFill>
              </a:rPr>
              <a:t>(id_assegnazione PK, id_allieva FK → ALLIEVA, id_costume FK → COSTUME, id_coreografia FK → COREOGRAFIA, pagato, consegnato)</a:t>
            </a:r>
          </a:p>
        </p:txBody>
      </p:sp>
      <p:sp>
        <p:nvSpPr>
          <p:cNvPr id="364" name="Shape 5"/>
          <p:cNvSpPr/>
          <p:nvPr/>
        </p:nvSpPr>
        <p:spPr>
          <a:xfrm>
            <a:off x="457200" y="4370832"/>
            <a:ext cx="8229600" cy="502921"/>
          </a:xfrm>
          <a:prstGeom prst="roundRect">
            <a:avLst>
              <a:gd name="adj" fmla="val 10909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6"/>
          <p:cNvSpPr txBox="1"/>
          <p:nvPr/>
        </p:nvSpPr>
        <p:spPr>
          <a:xfrm>
            <a:off x="731520" y="4472607"/>
            <a:ext cx="76809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100">
                <a:solidFill>
                  <a:srgbClr val="6D2E46"/>
                </a:solidFill>
              </a:defRPr>
            </a:pPr>
            <a:r>
              <a:t>• PK = chiave primaria · FK = chiave esterna, con la tabella referenziata indicata dalla freccia</a:t>
            </a:r>
          </a:p>
          <a:p>
            <a:pPr>
              <a:defRPr i="1" sz="1100">
                <a:solidFill>
                  <a:srgbClr val="6D2E46"/>
                </a:solidFill>
              </a:defRPr>
            </a:pPr>
            <a:r>
              <a:t>• ASSEGNAZIONE_COSTUMI traduce la relazione ternaria, con gli attributi pagato e consegnato</a:t>
            </a:r>
          </a:p>
        </p:txBody>
      </p:sp>
      <p:sp>
        <p:nvSpPr>
          <p:cNvPr id="366" name="Text 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PROGETTAZIONE LOGICA</a:t>
            </a:r>
          </a:p>
        </p:txBody>
      </p:sp>
      <p:sp>
        <p:nvSpPr>
          <p:cNvPr id="37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Normalizzazione dello schema</a:t>
            </a:r>
          </a:p>
        </p:txBody>
      </p:sp>
      <p:sp>
        <p:nvSpPr>
          <p:cNvPr id="372" name="Shape 3"/>
          <p:cNvSpPr/>
          <p:nvPr/>
        </p:nvSpPr>
        <p:spPr>
          <a:xfrm>
            <a:off x="457200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" name="Text 4"/>
          <p:cNvSpPr txBox="1"/>
          <p:nvPr/>
        </p:nvSpPr>
        <p:spPr>
          <a:xfrm>
            <a:off x="640080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1NF</a:t>
            </a:r>
          </a:p>
        </p:txBody>
      </p:sp>
      <p:sp>
        <p:nvSpPr>
          <p:cNvPr id="374" name="Text 5"/>
          <p:cNvSpPr txBox="1"/>
          <p:nvPr/>
        </p:nvSpPr>
        <p:spPr>
          <a:xfrm>
            <a:off x="658368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Prima Forma Normale</a:t>
            </a:r>
          </a:p>
        </p:txBody>
      </p:sp>
      <p:sp>
        <p:nvSpPr>
          <p:cNvPr id="375" name="Text 6"/>
          <p:cNvSpPr txBox="1"/>
          <p:nvPr/>
        </p:nvSpPr>
        <p:spPr>
          <a:xfrm>
            <a:off x="658368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Tutte le tabelle contengono attributi atomici e non sono presenti gruppi ripetuti.</a:t>
            </a:r>
          </a:p>
        </p:txBody>
      </p:sp>
      <p:sp>
        <p:nvSpPr>
          <p:cNvPr id="376" name="Shape 7"/>
          <p:cNvSpPr/>
          <p:nvPr/>
        </p:nvSpPr>
        <p:spPr>
          <a:xfrm>
            <a:off x="3319271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" name="Text 8"/>
          <p:cNvSpPr txBox="1"/>
          <p:nvPr/>
        </p:nvSpPr>
        <p:spPr>
          <a:xfrm>
            <a:off x="3502152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2NF</a:t>
            </a:r>
          </a:p>
        </p:txBody>
      </p:sp>
      <p:sp>
        <p:nvSpPr>
          <p:cNvPr id="378" name="Text 9"/>
          <p:cNvSpPr txBox="1"/>
          <p:nvPr/>
        </p:nvSpPr>
        <p:spPr>
          <a:xfrm>
            <a:off x="3520440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Seconda Forma Normale</a:t>
            </a:r>
          </a:p>
        </p:txBody>
      </p:sp>
      <p:sp>
        <p:nvSpPr>
          <p:cNvPr id="379" name="Text 10"/>
          <p:cNvSpPr txBox="1"/>
          <p:nvPr/>
        </p:nvSpPr>
        <p:spPr>
          <a:xfrm>
            <a:off x="3520440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Tutti gli attributi non chiave dipendono interamente dalla chiave primaria della rispettiva tabella.</a:t>
            </a:r>
          </a:p>
        </p:txBody>
      </p:sp>
      <p:sp>
        <p:nvSpPr>
          <p:cNvPr id="380" name="Shape 11"/>
          <p:cNvSpPr/>
          <p:nvPr/>
        </p:nvSpPr>
        <p:spPr>
          <a:xfrm>
            <a:off x="6181344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" name="Text 12"/>
          <p:cNvSpPr txBox="1"/>
          <p:nvPr/>
        </p:nvSpPr>
        <p:spPr>
          <a:xfrm>
            <a:off x="6364223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3NF</a:t>
            </a:r>
          </a:p>
        </p:txBody>
      </p:sp>
      <p:sp>
        <p:nvSpPr>
          <p:cNvPr id="382" name="Text 13"/>
          <p:cNvSpPr txBox="1"/>
          <p:nvPr/>
        </p:nvSpPr>
        <p:spPr>
          <a:xfrm>
            <a:off x="6382511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0DEE7"/>
                </a:solidFill>
              </a:defRPr>
            </a:lvl1pPr>
          </a:lstStyle>
          <a:p>
            <a:pPr/>
            <a:r>
              <a:t>Terza Forma Normale</a:t>
            </a:r>
          </a:p>
        </p:txBody>
      </p:sp>
      <p:sp>
        <p:nvSpPr>
          <p:cNvPr id="383" name="Text 14"/>
          <p:cNvSpPr txBox="1"/>
          <p:nvPr/>
        </p:nvSpPr>
        <p:spPr>
          <a:xfrm>
            <a:off x="6382511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DEE7"/>
                </a:solidFill>
              </a:defRPr>
            </a:lvl1pPr>
          </a:lstStyle>
          <a:p>
            <a:pPr/>
            <a:r>
              <a:t>Nessuna dipendenza transitiva tra attributi non chiave: ogni attributo dipende solo dalla chiave primaria.</a:t>
            </a:r>
          </a:p>
        </p:txBody>
      </p:sp>
      <p:sp>
        <p:nvSpPr>
          <p:cNvPr id="384" name="Shape 15"/>
          <p:cNvSpPr/>
          <p:nvPr/>
        </p:nvSpPr>
        <p:spPr>
          <a:xfrm>
            <a:off x="457200" y="3886200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F3E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411480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Text 16"/>
          <p:cNvSpPr txBox="1"/>
          <p:nvPr/>
        </p:nvSpPr>
        <p:spPr>
          <a:xfrm>
            <a:off x="1371600" y="4135559"/>
            <a:ext cx="7132319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B2024"/>
                </a:solidFill>
              </a:defRPr>
            </a:lvl1pPr>
          </a:lstStyle>
          <a:p>
            <a:pPr/>
            <a:r>
              <a:t>Lo schema è conforme alla 3NF: ridondanza ridotta e anomalie di inserimento, modifica e cancellazione prevenute.</a:t>
            </a:r>
          </a:p>
        </p:txBody>
      </p:sp>
      <p:sp>
        <p:nvSpPr>
          <p:cNvPr id="387" name="Text 1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PROGETTAZIONE LOGICA</a:t>
            </a:r>
          </a:p>
        </p:txBody>
      </p:sp>
      <p:sp>
        <p:nvSpPr>
          <p:cNvPr id="39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Vincoli di integrità del sistema</a:t>
            </a:r>
          </a:p>
        </p:txBody>
      </p:sp>
      <p:sp>
        <p:nvSpPr>
          <p:cNvPr id="393" name="Shape 3"/>
          <p:cNvSpPr/>
          <p:nvPr/>
        </p:nvSpPr>
        <p:spPr>
          <a:xfrm>
            <a:off x="457200" y="137160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" name="Shape 4"/>
          <p:cNvSpPr/>
          <p:nvPr/>
        </p:nvSpPr>
        <p:spPr>
          <a:xfrm>
            <a:off x="65836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66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ext 5"/>
          <p:cNvSpPr txBox="1"/>
          <p:nvPr/>
        </p:nvSpPr>
        <p:spPr>
          <a:xfrm>
            <a:off x="1234439" y="171266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Integrità referenziale</a:t>
            </a:r>
          </a:p>
        </p:txBody>
      </p:sp>
      <p:sp>
        <p:nvSpPr>
          <p:cNvPr id="397" name="Text 7"/>
          <p:cNvSpPr txBox="1"/>
          <p:nvPr/>
        </p:nvSpPr>
        <p:spPr>
          <a:xfrm>
            <a:off x="731519" y="2121407"/>
            <a:ext cx="3566162" cy="107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corso è associato a una maestra esistente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allieva è associata a un corso esistente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lezione appartiene a un corso ed è tenuta da una maestra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coreografia appartiene a un saggio esistente</a:t>
            </a:r>
          </a:p>
        </p:txBody>
      </p:sp>
      <p:sp>
        <p:nvSpPr>
          <p:cNvPr id="398" name="Shape 8"/>
          <p:cNvSpPr/>
          <p:nvPr/>
        </p:nvSpPr>
        <p:spPr>
          <a:xfrm>
            <a:off x="4617720" y="1371600"/>
            <a:ext cx="4069080" cy="1097281"/>
          </a:xfrm>
          <a:prstGeom prst="roundRect">
            <a:avLst>
              <a:gd name="adj" fmla="val 666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Shape 9"/>
          <p:cNvSpPr/>
          <p:nvPr/>
        </p:nvSpPr>
        <p:spPr>
          <a:xfrm>
            <a:off x="481888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3318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 10"/>
          <p:cNvSpPr txBox="1"/>
          <p:nvPr/>
        </p:nvSpPr>
        <p:spPr>
          <a:xfrm>
            <a:off x="5394959" y="171266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Vincoli di dominio</a:t>
            </a:r>
          </a:p>
        </p:txBody>
      </p:sp>
      <p:sp>
        <p:nvSpPr>
          <p:cNvPr id="402" name="Text 11"/>
          <p:cNvSpPr txBox="1"/>
          <p:nvPr/>
        </p:nvSpPr>
        <p:spPr>
          <a:xfrm>
            <a:off x="4846320" y="212140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Lo stato di un pagamento può assumere solo valori coerenti: Pagato, Da pagare, In ritardo.</a:t>
            </a:r>
          </a:p>
        </p:txBody>
      </p:sp>
      <p:sp>
        <p:nvSpPr>
          <p:cNvPr id="403" name="Shape 12"/>
          <p:cNvSpPr/>
          <p:nvPr/>
        </p:nvSpPr>
        <p:spPr>
          <a:xfrm>
            <a:off x="4617720" y="2651760"/>
            <a:ext cx="4069080" cy="1097281"/>
          </a:xfrm>
          <a:prstGeom prst="roundRect">
            <a:avLst>
              <a:gd name="adj" fmla="val 6667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" name="Shape 13"/>
          <p:cNvSpPr/>
          <p:nvPr/>
        </p:nvSpPr>
        <p:spPr>
          <a:xfrm>
            <a:off x="4818888" y="285292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33188" y="296722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Text 14"/>
          <p:cNvSpPr txBox="1"/>
          <p:nvPr/>
        </p:nvSpPr>
        <p:spPr>
          <a:xfrm>
            <a:off x="5394959" y="299282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6D2E46"/>
                </a:solidFill>
              </a:defRPr>
            </a:lvl1pPr>
          </a:lstStyle>
          <a:p>
            <a:pPr/>
            <a:r>
              <a:t>Vincolo logico</a:t>
            </a:r>
          </a:p>
        </p:txBody>
      </p:sp>
      <p:sp>
        <p:nvSpPr>
          <p:cNvPr id="407" name="Text 15"/>
          <p:cNvSpPr txBox="1"/>
          <p:nvPr/>
        </p:nvSpPr>
        <p:spPr>
          <a:xfrm>
            <a:off x="4846320" y="340156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pPr/>
            <a:r>
              <a:t>Una maestra non può avere due lezioni nello stesso giorno e alla stessa ora.</a:t>
            </a:r>
          </a:p>
        </p:txBody>
      </p:sp>
      <p:sp>
        <p:nvSpPr>
          <p:cNvPr id="408" name="Shape 16"/>
          <p:cNvSpPr/>
          <p:nvPr/>
        </p:nvSpPr>
        <p:spPr>
          <a:xfrm>
            <a:off x="457200" y="3977640"/>
            <a:ext cx="8229600" cy="777241"/>
          </a:xfrm>
          <a:prstGeom prst="roundRect">
            <a:avLst>
              <a:gd name="adj" fmla="val 8235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" name="Text 17"/>
          <p:cNvSpPr txBox="1"/>
          <p:nvPr/>
        </p:nvSpPr>
        <p:spPr>
          <a:xfrm>
            <a:off x="731520" y="4282879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0DEE7"/>
                </a:solidFill>
              </a:defRPr>
            </a:pPr>
            <a:r>
              <a:t>Il vincolo logico confronta più record tra loro </a:t>
            </a:r>
            <a:r>
              <a:rPr b="1">
                <a:solidFill>
                  <a:srgbClr val="FFFFFF"/>
                </a:solidFill>
              </a:rPr>
              <a:t>→ non basta un CHECK: serve un trigger</a:t>
            </a:r>
          </a:p>
        </p:txBody>
      </p:sp>
      <p:sp>
        <p:nvSpPr>
          <p:cNvPr id="410" name="Text 18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PROGETTAZIONE LOGICA</a:t>
            </a:r>
          </a:p>
        </p:txBody>
      </p:sp>
      <p:sp>
        <p:nvSpPr>
          <p:cNvPr id="415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Trigger: sovrapposizione delle lezioni</a:t>
            </a:r>
          </a:p>
        </p:txBody>
      </p:sp>
      <p:sp>
        <p:nvSpPr>
          <p:cNvPr id="416" name="Shape 3"/>
          <p:cNvSpPr/>
          <p:nvPr/>
        </p:nvSpPr>
        <p:spPr>
          <a:xfrm>
            <a:off x="457200" y="137160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31242B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" name="Text 4"/>
          <p:cNvSpPr txBox="1"/>
          <p:nvPr/>
        </p:nvSpPr>
        <p:spPr>
          <a:xfrm>
            <a:off x="685799" y="1536191"/>
            <a:ext cx="4617722" cy="215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CREATE TRIGGER controllo_sovrapposizione_lezioni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BEFORE INSERT ON 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ROW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BEGIN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SELECT CASE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WHEN EXISTS (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SELECT 1 FROM 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WHERE id_maestra = NEW.id_maestra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AND giorno_settimana =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NEW.giorno_settimana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AND ora_inizio = NEW.ora_inizio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THEN RAISE(ABORT, 'Errore: la maestra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ha gia una lezione in questo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giorno e orario')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END;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END;</a:t>
            </a:r>
          </a:p>
        </p:txBody>
      </p:sp>
      <p:sp>
        <p:nvSpPr>
          <p:cNvPr id="418" name="Shape 5"/>
          <p:cNvSpPr/>
          <p:nvPr/>
        </p:nvSpPr>
        <p:spPr>
          <a:xfrm>
            <a:off x="5669279" y="1371600"/>
            <a:ext cx="3017521" cy="1024128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Text 6"/>
          <p:cNvSpPr txBox="1"/>
          <p:nvPr/>
        </p:nvSpPr>
        <p:spPr>
          <a:xfrm>
            <a:off x="5852159" y="1705863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0" name="Text 7"/>
          <p:cNvSpPr txBox="1"/>
          <p:nvPr/>
        </p:nvSpPr>
        <p:spPr>
          <a:xfrm>
            <a:off x="6355079" y="1746294"/>
            <a:ext cx="2212849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Si attiva prima di ogni inserimento nella tabella Lezioni (BEFORE INSERT).</a:t>
            </a:r>
          </a:p>
        </p:txBody>
      </p:sp>
      <p:sp>
        <p:nvSpPr>
          <p:cNvPr id="421" name="Shape 8"/>
          <p:cNvSpPr/>
          <p:nvPr/>
        </p:nvSpPr>
        <p:spPr>
          <a:xfrm>
            <a:off x="5669279" y="2542032"/>
            <a:ext cx="3017521" cy="1024129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" name="Text 9"/>
          <p:cNvSpPr txBox="1"/>
          <p:nvPr/>
        </p:nvSpPr>
        <p:spPr>
          <a:xfrm>
            <a:off x="5852159" y="2876296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3" name="Text 10"/>
          <p:cNvSpPr txBox="1"/>
          <p:nvPr/>
        </p:nvSpPr>
        <p:spPr>
          <a:xfrm>
            <a:off x="6355079" y="2834176"/>
            <a:ext cx="221284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Cerca una lezione esistente con la stessa maestra, lo stesso giorno e la stessa ora di inizio.</a:t>
            </a:r>
          </a:p>
        </p:txBody>
      </p:sp>
      <p:sp>
        <p:nvSpPr>
          <p:cNvPr id="424" name="Shape 11"/>
          <p:cNvSpPr/>
          <p:nvPr/>
        </p:nvSpPr>
        <p:spPr>
          <a:xfrm>
            <a:off x="5669279" y="3712464"/>
            <a:ext cx="3017521" cy="1024129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" name="Text 12"/>
          <p:cNvSpPr txBox="1"/>
          <p:nvPr/>
        </p:nvSpPr>
        <p:spPr>
          <a:xfrm>
            <a:off x="5852159" y="4046727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26" name="Text 13"/>
          <p:cNvSpPr txBox="1"/>
          <p:nvPr/>
        </p:nvSpPr>
        <p:spPr>
          <a:xfrm>
            <a:off x="6355079" y="4004608"/>
            <a:ext cx="221284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Se la trova, l'inserimento viene bloccato con RAISE(ABORT) e un messaggio di errore.</a:t>
            </a:r>
          </a:p>
        </p:txBody>
      </p:sp>
      <p:sp>
        <p:nvSpPr>
          <p:cNvPr id="427" name="Text 14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3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Implementazione</a:t>
            </a:r>
          </a:p>
        </p:txBody>
      </p:sp>
      <p:sp>
        <p:nvSpPr>
          <p:cNvPr id="433" name="Text 4"/>
          <p:cNvSpPr txBox="1"/>
          <p:nvPr/>
        </p:nvSpPr>
        <p:spPr>
          <a:xfrm>
            <a:off x="640080" y="3507303"/>
            <a:ext cx="676656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pPr/>
            <a:r>
              <a:t>Dal modello al sistema reale: web application Django con database SQLite.</a:t>
            </a:r>
          </a:p>
        </p:txBody>
      </p:sp>
      <p:sp>
        <p:nvSpPr>
          <p:cNvPr id="43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27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IMPLEMENTAZIONE</a:t>
            </a:r>
          </a:p>
        </p:txBody>
      </p:sp>
      <p:sp>
        <p:nvSpPr>
          <p:cNvPr id="44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Gestione degli accessi</a:t>
            </a:r>
          </a:p>
        </p:txBody>
      </p:sp>
      <p:sp>
        <p:nvSpPr>
          <p:cNvPr id="442" name="Shape 3"/>
          <p:cNvSpPr/>
          <p:nvPr/>
        </p:nvSpPr>
        <p:spPr>
          <a:xfrm>
            <a:off x="457200" y="1371600"/>
            <a:ext cx="3383280" cy="3291841"/>
          </a:xfrm>
          <a:prstGeom prst="roundRect">
            <a:avLst>
              <a:gd name="adj" fmla="val 2500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Shape 4"/>
          <p:cNvSpPr/>
          <p:nvPr/>
        </p:nvSpPr>
        <p:spPr>
          <a:xfrm>
            <a:off x="1783079" y="1645920"/>
            <a:ext cx="731521" cy="73152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4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65960" y="1828800"/>
            <a:ext cx="365761" cy="365760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Text 5"/>
          <p:cNvSpPr txBox="1"/>
          <p:nvPr/>
        </p:nvSpPr>
        <p:spPr>
          <a:xfrm>
            <a:off x="640079" y="2581341"/>
            <a:ext cx="301752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Profilo unico</a:t>
            </a:r>
          </a:p>
        </p:txBody>
      </p:sp>
      <p:sp>
        <p:nvSpPr>
          <p:cNvPr id="446" name="Text 6"/>
          <p:cNvSpPr txBox="1"/>
          <p:nvPr/>
        </p:nvSpPr>
        <p:spPr>
          <a:xfrm>
            <a:off x="731520" y="3105326"/>
            <a:ext cx="283464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0DEE7"/>
                </a:solidFill>
              </a:defRPr>
            </a:lvl1pPr>
          </a:lstStyle>
          <a:p>
            <a:pPr/>
            <a:r>
              <a:t>Amministratore / docente responsabile: l'app è un gestionale interno, non usato direttamente dalle allieve.</a:t>
            </a:r>
          </a:p>
        </p:txBody>
      </p:sp>
      <p:sp>
        <p:nvSpPr>
          <p:cNvPr id="447" name="Text 7"/>
          <p:cNvSpPr txBox="1"/>
          <p:nvPr/>
        </p:nvSpPr>
        <p:spPr>
          <a:xfrm>
            <a:off x="731520" y="4055154"/>
            <a:ext cx="283464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D9B6C5"/>
                </a:solidFill>
              </a:defRPr>
            </a:lvl1pPr>
          </a:lstStyle>
          <a:p>
            <a:pPr/>
            <a:r>
              <a:t>Estensione futura: accessi separati per maestre o allieve</a:t>
            </a:r>
          </a:p>
        </p:txBody>
      </p:sp>
      <p:sp>
        <p:nvSpPr>
          <p:cNvPr id="448" name="Text 8"/>
          <p:cNvSpPr txBox="1"/>
          <p:nvPr/>
        </p:nvSpPr>
        <p:spPr>
          <a:xfrm>
            <a:off x="4114800" y="1441626"/>
            <a:ext cx="45720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A26769"/>
                </a:solidFill>
              </a:defRPr>
            </a:lvl1pPr>
          </a:lstStyle>
          <a:p>
            <a:pPr/>
            <a:r>
              <a:t>FUNZIONALITÀ DISPONIBILI</a:t>
            </a:r>
          </a:p>
        </p:txBody>
      </p:sp>
      <p:sp>
        <p:nvSpPr>
          <p:cNvPr id="449" name="Shape 9"/>
          <p:cNvSpPr/>
          <p:nvPr/>
        </p:nvSpPr>
        <p:spPr>
          <a:xfrm>
            <a:off x="4114800" y="1783079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42815" y="1975104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Text 10"/>
          <p:cNvSpPr txBox="1"/>
          <p:nvPr/>
        </p:nvSpPr>
        <p:spPr>
          <a:xfrm>
            <a:off x="4572000" y="2025440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Visualizzare la dashboard</a:t>
            </a:r>
          </a:p>
        </p:txBody>
      </p:sp>
      <p:sp>
        <p:nvSpPr>
          <p:cNvPr id="452" name="Shape 11"/>
          <p:cNvSpPr/>
          <p:nvPr/>
        </p:nvSpPr>
        <p:spPr>
          <a:xfrm>
            <a:off x="6446520" y="1783079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3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74535" y="1975104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Text 12"/>
          <p:cNvSpPr txBox="1"/>
          <p:nvPr/>
        </p:nvSpPr>
        <p:spPr>
          <a:xfrm>
            <a:off x="6903719" y="2025440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Inserire e modificare allieve</a:t>
            </a:r>
          </a:p>
        </p:txBody>
      </p:sp>
      <p:sp>
        <p:nvSpPr>
          <p:cNvPr id="455" name="Shape 13"/>
          <p:cNvSpPr/>
          <p:nvPr/>
        </p:nvSpPr>
        <p:spPr>
          <a:xfrm>
            <a:off x="4114800" y="2532888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6" name="Image 4" descr="Imag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42815" y="2724911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Text 14"/>
          <p:cNvSpPr txBox="1"/>
          <p:nvPr/>
        </p:nvSpPr>
        <p:spPr>
          <a:xfrm>
            <a:off x="4572000" y="2775248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Gestire maestre</a:t>
            </a:r>
          </a:p>
        </p:txBody>
      </p:sp>
      <p:sp>
        <p:nvSpPr>
          <p:cNvPr id="458" name="Shape 15"/>
          <p:cNvSpPr/>
          <p:nvPr/>
        </p:nvSpPr>
        <p:spPr>
          <a:xfrm>
            <a:off x="6446520" y="2532888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9" name="Image 5" descr="Imag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74535" y="2724911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16"/>
          <p:cNvSpPr txBox="1"/>
          <p:nvPr/>
        </p:nvSpPr>
        <p:spPr>
          <a:xfrm>
            <a:off x="6903719" y="2775248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Creare corsi</a:t>
            </a:r>
          </a:p>
        </p:txBody>
      </p:sp>
      <p:sp>
        <p:nvSpPr>
          <p:cNvPr id="461" name="Shape 17"/>
          <p:cNvSpPr/>
          <p:nvPr/>
        </p:nvSpPr>
        <p:spPr>
          <a:xfrm>
            <a:off x="4114800" y="3282696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2" name="Image 6" descr="Imag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42815" y="3474720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Text 18"/>
          <p:cNvSpPr txBox="1"/>
          <p:nvPr/>
        </p:nvSpPr>
        <p:spPr>
          <a:xfrm>
            <a:off x="4572000" y="3525056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Controllare pagamenti</a:t>
            </a:r>
          </a:p>
        </p:txBody>
      </p:sp>
      <p:sp>
        <p:nvSpPr>
          <p:cNvPr id="464" name="Shape 19"/>
          <p:cNvSpPr/>
          <p:nvPr/>
        </p:nvSpPr>
        <p:spPr>
          <a:xfrm>
            <a:off x="6446520" y="3282696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5" name="Image 7" descr="Imag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74535" y="3474720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Text 20"/>
          <p:cNvSpPr txBox="1"/>
          <p:nvPr/>
        </p:nvSpPr>
        <p:spPr>
          <a:xfrm>
            <a:off x="6903719" y="3525056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Organizzare saggi</a:t>
            </a:r>
          </a:p>
        </p:txBody>
      </p:sp>
      <p:sp>
        <p:nvSpPr>
          <p:cNvPr id="467" name="Shape 21"/>
          <p:cNvSpPr/>
          <p:nvPr/>
        </p:nvSpPr>
        <p:spPr>
          <a:xfrm>
            <a:off x="4114800" y="4032503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8" name="Image 8" descr="Imag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42815" y="4224528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 22"/>
          <p:cNvSpPr txBox="1"/>
          <p:nvPr/>
        </p:nvSpPr>
        <p:spPr>
          <a:xfrm>
            <a:off x="4572000" y="4274864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Aggiungere coreografie</a:t>
            </a:r>
          </a:p>
        </p:txBody>
      </p:sp>
      <p:sp>
        <p:nvSpPr>
          <p:cNvPr id="470" name="Shape 23"/>
          <p:cNvSpPr/>
          <p:nvPr/>
        </p:nvSpPr>
        <p:spPr>
          <a:xfrm>
            <a:off x="6446520" y="4032503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71" name="Image 9" descr="Imag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74535" y="4224528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2" name="Text 24"/>
          <p:cNvSpPr txBox="1"/>
          <p:nvPr/>
        </p:nvSpPr>
        <p:spPr>
          <a:xfrm>
            <a:off x="6903719" y="4274864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Gestire costumi</a:t>
            </a:r>
          </a:p>
        </p:txBody>
      </p:sp>
      <p:sp>
        <p:nvSpPr>
          <p:cNvPr id="473" name="Text 2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6766559" y="-2194561"/>
            <a:ext cx="5486401" cy="54864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Shape 1"/>
          <p:cNvSpPr/>
          <p:nvPr/>
        </p:nvSpPr>
        <p:spPr>
          <a:xfrm>
            <a:off x="-1828800" y="3291840"/>
            <a:ext cx="4206241" cy="420624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Shape 2"/>
          <p:cNvSpPr/>
          <p:nvPr/>
        </p:nvSpPr>
        <p:spPr>
          <a:xfrm>
            <a:off x="7818119" y="502919"/>
            <a:ext cx="868681" cy="86868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7576" y="722376"/>
            <a:ext cx="429769" cy="429769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Text 3"/>
          <p:cNvSpPr txBox="1"/>
          <p:nvPr/>
        </p:nvSpPr>
        <p:spPr>
          <a:xfrm>
            <a:off x="640079" y="1173919"/>
            <a:ext cx="78638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300">
                <a:solidFill>
                  <a:srgbClr val="E5CBD7"/>
                </a:solidFill>
              </a:defRPr>
            </a:lvl1pPr>
          </a:lstStyle>
          <a:p>
            <a:pPr/>
            <a:r>
              <a:t>OLYMPIAN'S DANCE ACADEMY</a:t>
            </a:r>
          </a:p>
        </p:txBody>
      </p:sp>
      <p:sp>
        <p:nvSpPr>
          <p:cNvPr id="480" name="Text 4"/>
          <p:cNvSpPr txBox="1"/>
          <p:nvPr/>
        </p:nvSpPr>
        <p:spPr>
          <a:xfrm>
            <a:off x="640079" y="1625599"/>
            <a:ext cx="78638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L'interfaccia web</a:t>
            </a:r>
          </a:p>
          <a:p>
            <a:pPr>
              <a:defRPr b="1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della web application</a:t>
            </a:r>
          </a:p>
        </p:txBody>
      </p:sp>
      <p:sp>
        <p:nvSpPr>
          <p:cNvPr id="481" name="Text 5"/>
          <p:cNvSpPr txBox="1"/>
          <p:nvPr/>
        </p:nvSpPr>
        <p:spPr>
          <a:xfrm>
            <a:off x="640079" y="3290001"/>
            <a:ext cx="69494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E5CBD7"/>
                </a:solidFill>
              </a:defRPr>
            </a:lvl1pPr>
          </a:lstStyle>
          <a:p>
            <a:pPr/>
            <a:r>
              <a:t>Ogni schermata spiegata nel dettaglio: navigazione, dati e funzionalità</a:t>
            </a:r>
          </a:p>
        </p:txBody>
      </p:sp>
      <p:sp>
        <p:nvSpPr>
          <p:cNvPr id="482" name="Shape 6"/>
          <p:cNvSpPr/>
          <p:nvPr/>
        </p:nvSpPr>
        <p:spPr>
          <a:xfrm>
            <a:off x="640080" y="3931920"/>
            <a:ext cx="3931921" cy="685801"/>
          </a:xfrm>
          <a:prstGeom prst="roundRect">
            <a:avLst>
              <a:gd name="adj" fmla="val 10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3" name="Text 7"/>
          <p:cNvSpPr txBox="1"/>
          <p:nvPr/>
        </p:nvSpPr>
        <p:spPr>
          <a:xfrm>
            <a:off x="868680" y="4082087"/>
            <a:ext cx="3657601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Luisa Amato</a:t>
            </a:r>
          </a:p>
          <a:p>
            <a:pPr>
              <a:defRPr sz="1200">
                <a:solidFill>
                  <a:srgbClr val="E5CBD7"/>
                </a:solidFill>
              </a:defRPr>
            </a:pPr>
            <a:r>
              <a:t>Matricola 0334000245</a:t>
            </a:r>
          </a:p>
        </p:txBody>
      </p:sp>
      <p:sp>
        <p:nvSpPr>
          <p:cNvPr id="484" name="Text 8"/>
          <p:cNvSpPr txBox="1"/>
          <p:nvPr/>
        </p:nvSpPr>
        <p:spPr>
          <a:xfrm>
            <a:off x="8321040" y="4896656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A26769"/>
                </a:solidFill>
              </a:defRPr>
            </a:lvl1pPr>
          </a:lstStyle>
          <a:p>
            <a:pPr/>
            <a:r>
              <a:t>PANORAMICA</a:t>
            </a:r>
          </a:p>
        </p:txBody>
      </p:sp>
      <p:sp>
        <p:nvSpPr>
          <p:cNvPr id="489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Struttura dell'applicazione</a:t>
            </a:r>
          </a:p>
        </p:txBody>
      </p:sp>
      <p:sp>
        <p:nvSpPr>
          <p:cNvPr id="490" name="Text 3"/>
          <p:cNvSpPr txBox="1"/>
          <p:nvPr/>
        </p:nvSpPr>
        <p:spPr>
          <a:xfrm>
            <a:off x="457200" y="1140899"/>
            <a:ext cx="822960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B2024"/>
                </a:solidFill>
              </a:defRPr>
            </a:lvl1pPr>
          </a:lstStyle>
          <a:p>
            <a:pPr/>
            <a:r>
              <a:t>L'applicazione è costruita con Django e SQLite. La sidebar laterale scura permette di navigare tra tutte le sezioni del gestionale.</a:t>
            </a:r>
          </a:p>
        </p:txBody>
      </p:sp>
      <p:sp>
        <p:nvSpPr>
          <p:cNvPr id="491" name="Shape 4"/>
          <p:cNvSpPr/>
          <p:nvPr/>
        </p:nvSpPr>
        <p:spPr>
          <a:xfrm>
            <a:off x="457200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2" name="Shape 5"/>
          <p:cNvSpPr/>
          <p:nvPr/>
        </p:nvSpPr>
        <p:spPr>
          <a:xfrm>
            <a:off x="594359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9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9516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Text 6"/>
          <p:cNvSpPr txBox="1"/>
          <p:nvPr/>
        </p:nvSpPr>
        <p:spPr>
          <a:xfrm>
            <a:off x="1097280" y="2010595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Calendario</a:t>
            </a:r>
          </a:p>
        </p:txBody>
      </p:sp>
      <p:sp>
        <p:nvSpPr>
          <p:cNvPr id="495" name="Text 7"/>
          <p:cNvSpPr txBox="1"/>
          <p:nvPr/>
        </p:nvSpPr>
        <p:spPr>
          <a:xfrm>
            <a:off x="594359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Programmazione settimanale delle lezioni divisa per giorno</a:t>
            </a:r>
          </a:p>
        </p:txBody>
      </p:sp>
      <p:sp>
        <p:nvSpPr>
          <p:cNvPr id="496" name="Shape 8"/>
          <p:cNvSpPr/>
          <p:nvPr/>
        </p:nvSpPr>
        <p:spPr>
          <a:xfrm>
            <a:off x="2542032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7" name="Shape 9"/>
          <p:cNvSpPr/>
          <p:nvPr/>
        </p:nvSpPr>
        <p:spPr>
          <a:xfrm>
            <a:off x="2679192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9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84348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Text 10"/>
          <p:cNvSpPr txBox="1"/>
          <p:nvPr/>
        </p:nvSpPr>
        <p:spPr>
          <a:xfrm>
            <a:off x="3182111" y="2010595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Allieve</a:t>
            </a:r>
          </a:p>
        </p:txBody>
      </p:sp>
      <p:sp>
        <p:nvSpPr>
          <p:cNvPr id="500" name="Text 11"/>
          <p:cNvSpPr txBox="1"/>
          <p:nvPr/>
        </p:nvSpPr>
        <p:spPr>
          <a:xfrm>
            <a:off x="2679192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Elenco iscritte con corso, contatti e stato del certificato medico</a:t>
            </a:r>
          </a:p>
        </p:txBody>
      </p:sp>
      <p:sp>
        <p:nvSpPr>
          <p:cNvPr id="501" name="Shape 12"/>
          <p:cNvSpPr/>
          <p:nvPr/>
        </p:nvSpPr>
        <p:spPr>
          <a:xfrm>
            <a:off x="4626864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" name="Shape 13"/>
          <p:cNvSpPr/>
          <p:nvPr/>
        </p:nvSpPr>
        <p:spPr>
          <a:xfrm>
            <a:off x="4764023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69179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Text 14"/>
          <p:cNvSpPr txBox="1"/>
          <p:nvPr/>
        </p:nvSpPr>
        <p:spPr>
          <a:xfrm>
            <a:off x="5266944" y="2010595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Maestre</a:t>
            </a:r>
          </a:p>
        </p:txBody>
      </p:sp>
      <p:sp>
        <p:nvSpPr>
          <p:cNvPr id="505" name="Text 15"/>
          <p:cNvSpPr txBox="1"/>
          <p:nvPr/>
        </p:nvSpPr>
        <p:spPr>
          <a:xfrm>
            <a:off x="4764023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Card del corpo docente con specializzazione e compenso</a:t>
            </a:r>
          </a:p>
        </p:txBody>
      </p:sp>
      <p:sp>
        <p:nvSpPr>
          <p:cNvPr id="506" name="Shape 16"/>
          <p:cNvSpPr/>
          <p:nvPr/>
        </p:nvSpPr>
        <p:spPr>
          <a:xfrm>
            <a:off x="6711695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" name="Shape 17"/>
          <p:cNvSpPr/>
          <p:nvPr/>
        </p:nvSpPr>
        <p:spPr>
          <a:xfrm>
            <a:off x="6848856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954011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09" name="Text 18"/>
          <p:cNvSpPr txBox="1"/>
          <p:nvPr/>
        </p:nvSpPr>
        <p:spPr>
          <a:xfrm>
            <a:off x="7351776" y="2010595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Corsi</a:t>
            </a:r>
          </a:p>
        </p:txBody>
      </p:sp>
      <p:sp>
        <p:nvSpPr>
          <p:cNvPr id="510" name="Text 19"/>
          <p:cNvSpPr txBox="1"/>
          <p:nvPr/>
        </p:nvSpPr>
        <p:spPr>
          <a:xfrm>
            <a:off x="6848856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Offerta formativa: livello, fascia d'età e maestra responsabile</a:t>
            </a:r>
          </a:p>
        </p:txBody>
      </p:sp>
      <p:sp>
        <p:nvSpPr>
          <p:cNvPr id="511" name="Shape 20"/>
          <p:cNvSpPr/>
          <p:nvPr/>
        </p:nvSpPr>
        <p:spPr>
          <a:xfrm>
            <a:off x="457200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2" name="Shape 21"/>
          <p:cNvSpPr/>
          <p:nvPr/>
        </p:nvSpPr>
        <p:spPr>
          <a:xfrm>
            <a:off x="594359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3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99516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Text 22"/>
          <p:cNvSpPr txBox="1"/>
          <p:nvPr/>
        </p:nvSpPr>
        <p:spPr>
          <a:xfrm>
            <a:off x="1097280" y="3272467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Pagamenti</a:t>
            </a:r>
          </a:p>
        </p:txBody>
      </p:sp>
      <p:sp>
        <p:nvSpPr>
          <p:cNvPr id="515" name="Text 23"/>
          <p:cNvSpPr txBox="1"/>
          <p:nvPr/>
        </p:nvSpPr>
        <p:spPr>
          <a:xfrm>
            <a:off x="594359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Quote allieve e compensi maestre con stato e scadenze</a:t>
            </a:r>
          </a:p>
        </p:txBody>
      </p:sp>
      <p:sp>
        <p:nvSpPr>
          <p:cNvPr id="516" name="Shape 24"/>
          <p:cNvSpPr/>
          <p:nvPr/>
        </p:nvSpPr>
        <p:spPr>
          <a:xfrm>
            <a:off x="2542032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7" name="Shape 25"/>
          <p:cNvSpPr/>
          <p:nvPr/>
        </p:nvSpPr>
        <p:spPr>
          <a:xfrm>
            <a:off x="2679192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8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784348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19" name="Text 26"/>
          <p:cNvSpPr txBox="1"/>
          <p:nvPr/>
        </p:nvSpPr>
        <p:spPr>
          <a:xfrm>
            <a:off x="3182111" y="3272467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Saggio</a:t>
            </a:r>
          </a:p>
        </p:txBody>
      </p:sp>
      <p:sp>
        <p:nvSpPr>
          <p:cNvPr id="520" name="Text 27"/>
          <p:cNvSpPr txBox="1"/>
          <p:nvPr/>
        </p:nvSpPr>
        <p:spPr>
          <a:xfrm>
            <a:off x="2679192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Organizzazione del Gran Galà: atti, coreografie e musiche</a:t>
            </a:r>
          </a:p>
        </p:txBody>
      </p:sp>
      <p:sp>
        <p:nvSpPr>
          <p:cNvPr id="521" name="Shape 28"/>
          <p:cNvSpPr/>
          <p:nvPr/>
        </p:nvSpPr>
        <p:spPr>
          <a:xfrm>
            <a:off x="4626864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2" name="Shape 29"/>
          <p:cNvSpPr/>
          <p:nvPr/>
        </p:nvSpPr>
        <p:spPr>
          <a:xfrm>
            <a:off x="4764023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3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869179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Text 30"/>
          <p:cNvSpPr txBox="1"/>
          <p:nvPr/>
        </p:nvSpPr>
        <p:spPr>
          <a:xfrm>
            <a:off x="5266944" y="3272467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Costumi</a:t>
            </a:r>
          </a:p>
        </p:txBody>
      </p:sp>
      <p:sp>
        <p:nvSpPr>
          <p:cNvPr id="525" name="Text 31"/>
          <p:cNvSpPr txBox="1"/>
          <p:nvPr/>
        </p:nvSpPr>
        <p:spPr>
          <a:xfrm>
            <a:off x="4764023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Assegnazione e stato dei costumi di scena per le coreografie</a:t>
            </a:r>
          </a:p>
        </p:txBody>
      </p:sp>
      <p:sp>
        <p:nvSpPr>
          <p:cNvPr id="526" name="Shape 32"/>
          <p:cNvSpPr/>
          <p:nvPr/>
        </p:nvSpPr>
        <p:spPr>
          <a:xfrm>
            <a:off x="6711695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" name="Shape 33"/>
          <p:cNvSpPr/>
          <p:nvPr/>
        </p:nvSpPr>
        <p:spPr>
          <a:xfrm>
            <a:off x="6848856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8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954011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29" name="Text 34"/>
          <p:cNvSpPr txBox="1"/>
          <p:nvPr/>
        </p:nvSpPr>
        <p:spPr>
          <a:xfrm>
            <a:off x="7351776" y="3272467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6D2E46"/>
                </a:solidFill>
              </a:defRPr>
            </a:lvl1pPr>
          </a:lstStyle>
          <a:p>
            <a:pPr/>
            <a:r>
              <a:t>Dettaglio Allieva</a:t>
            </a:r>
          </a:p>
        </p:txBody>
      </p:sp>
      <p:sp>
        <p:nvSpPr>
          <p:cNvPr id="530" name="Text 35"/>
          <p:cNvSpPr txBox="1"/>
          <p:nvPr/>
        </p:nvSpPr>
        <p:spPr>
          <a:xfrm>
            <a:off x="6848856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pPr/>
            <a:r>
              <a:t>Scheda anagrafica con pagamenti, costumi e certificato medico</a:t>
            </a:r>
          </a:p>
        </p:txBody>
      </p:sp>
      <p:sp>
        <p:nvSpPr>
          <p:cNvPr id="531" name="Shape 36"/>
          <p:cNvSpPr/>
          <p:nvPr/>
        </p:nvSpPr>
        <p:spPr>
          <a:xfrm>
            <a:off x="457200" y="4206240"/>
            <a:ext cx="8229600" cy="594361"/>
          </a:xfrm>
          <a:prstGeom prst="roundRect">
            <a:avLst>
              <a:gd name="adj" fmla="val 9231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" name="Text 37"/>
          <p:cNvSpPr txBox="1"/>
          <p:nvPr/>
        </p:nvSpPr>
        <p:spPr>
          <a:xfrm>
            <a:off x="731520" y="4424987"/>
            <a:ext cx="7680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0DEE7"/>
                </a:solidFill>
              </a:defRPr>
            </a:lvl1pPr>
          </a:lstStyle>
          <a:p>
            <a:pPr/>
            <a:r>
              <a:t>Tutte le sezioni sono accessibili dalla sidebar laterale — l'utilizzatore è l'amministratore / docente responsabile</a:t>
            </a:r>
          </a:p>
        </p:txBody>
      </p:sp>
      <p:sp>
        <p:nvSpPr>
          <p:cNvPr id="533" name="Text 38"/>
          <p:cNvSpPr txBox="1"/>
          <p:nvPr/>
        </p:nvSpPr>
        <p:spPr>
          <a:xfrm>
            <a:off x="8321040" y="4896656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30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A26769"/>
                </a:solidFill>
              </a:defRPr>
            </a:lvl1pPr>
          </a:lstStyle>
          <a:p>
            <a:pPr/>
            <a:r>
              <a:t>INTERFACCIA PRINCIPALE</a:t>
            </a:r>
          </a:p>
        </p:txBody>
      </p:sp>
      <p:sp>
        <p:nvSpPr>
          <p:cNvPr id="538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Dashboard — Panoramica della scuola</a:t>
            </a:r>
          </a:p>
        </p:txBody>
      </p:sp>
      <p:sp>
        <p:nvSpPr>
          <p:cNvPr id="539" name="Shape 3"/>
          <p:cNvSpPr/>
          <p:nvPr/>
        </p:nvSpPr>
        <p:spPr>
          <a:xfrm>
            <a:off x="402336" y="1042416"/>
            <a:ext cx="5413248" cy="3306994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4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1097280"/>
            <a:ext cx="5303521" cy="3197265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Shape 4"/>
          <p:cNvSpPr/>
          <p:nvPr/>
        </p:nvSpPr>
        <p:spPr>
          <a:xfrm>
            <a:off x="5989320" y="1097280"/>
            <a:ext cx="2880361" cy="3749041"/>
          </a:xfrm>
          <a:prstGeom prst="roundRect">
            <a:avLst>
              <a:gd name="adj" fmla="val 2540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2" name="Text 5"/>
          <p:cNvSpPr txBox="1"/>
          <p:nvPr/>
        </p:nvSpPr>
        <p:spPr>
          <a:xfrm>
            <a:off x="6190488" y="1313496"/>
            <a:ext cx="247802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Come funziona</a:t>
            </a:r>
          </a:p>
        </p:txBody>
      </p:sp>
      <p:sp>
        <p:nvSpPr>
          <p:cNvPr id="543" name="Text 6"/>
          <p:cNvSpPr txBox="1"/>
          <p:nvPr/>
        </p:nvSpPr>
        <p:spPr>
          <a:xfrm>
            <a:off x="6236208" y="1627632"/>
            <a:ext cx="2386585" cy="2946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La pagina principale saluta l'utente e mostra una panoramica in tempo reale della scuola.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8 card riepilogative: allieve iscritte, maestre attive, corsi, lezioni di oggi, pagamenti in scadenza, costumi da consegnare e stato del saggio.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Sezione "Lezioni di Oggi": mostra la tabella delle lezioni del giorno corrente con ora, corso, maestra, sala e numero di allieve.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"Azioni Rapide": pulsanti per Nuova Iscrizione, Gestione Pagamenti e Preparazione Saggio.</a:t>
            </a:r>
          </a:p>
          <a:p>
            <a:pPr>
              <a:defRPr sz="1000">
                <a:solidFill>
                  <a:srgbClr val="2B2024"/>
                </a:solidFill>
              </a:defRPr>
            </a:pPr>
            <a:r>
              <a:t>"Prossime Scadenze": anteprima dei prossimi pagamenti in arrivo (maestre e allieve).</a:t>
            </a:r>
          </a:p>
        </p:txBody>
      </p:sp>
      <p:sp>
        <p:nvSpPr>
          <p:cNvPr id="544" name="Shape 7"/>
          <p:cNvSpPr/>
          <p:nvPr/>
        </p:nvSpPr>
        <p:spPr>
          <a:xfrm>
            <a:off x="457200" y="4434840"/>
            <a:ext cx="5303521" cy="438913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5" name="Text 8"/>
          <p:cNvSpPr txBox="1"/>
          <p:nvPr/>
        </p:nvSpPr>
        <p:spPr>
          <a:xfrm>
            <a:off x="640079" y="4503210"/>
            <a:ext cx="49377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DEE7"/>
                </a:solidFill>
              </a:defRPr>
            </a:lvl1pPr>
          </a:lstStyle>
          <a:p>
            <a:pPr/>
            <a:r>
              <a:t>La dashboard aggrega dati da tutte le tabelle del database, offrendo un colpo d'occhio completo sulla scuola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A26769"/>
                </a:solidFill>
              </a:defRPr>
            </a:lvl1pPr>
          </a:lstStyle>
          <a:p>
            <a:pPr/>
            <a:r>
              <a:t>INTERFACCIA WEB</a:t>
            </a:r>
          </a:p>
        </p:txBody>
      </p:sp>
      <p:sp>
        <p:nvSpPr>
          <p:cNvPr id="550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Calendario, Allieve, Dettaglio e Maestre</a:t>
            </a:r>
          </a:p>
        </p:txBody>
      </p:sp>
      <p:sp>
        <p:nvSpPr>
          <p:cNvPr id="551" name="Shape 3"/>
          <p:cNvSpPr/>
          <p:nvPr/>
        </p:nvSpPr>
        <p:spPr>
          <a:xfrm>
            <a:off x="457200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2" name="Shape 4"/>
          <p:cNvSpPr/>
          <p:nvPr/>
        </p:nvSpPr>
        <p:spPr>
          <a:xfrm>
            <a:off x="566927" y="1207008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5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3449" y="1234439"/>
            <a:ext cx="2042062" cy="918929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Shape 5"/>
          <p:cNvSpPr/>
          <p:nvPr/>
        </p:nvSpPr>
        <p:spPr>
          <a:xfrm>
            <a:off x="2697479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5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79776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Text 6"/>
          <p:cNvSpPr txBox="1"/>
          <p:nvPr/>
        </p:nvSpPr>
        <p:spPr>
          <a:xfrm>
            <a:off x="3172967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Calendario Lezioni</a:t>
            </a:r>
          </a:p>
        </p:txBody>
      </p:sp>
      <p:sp>
        <p:nvSpPr>
          <p:cNvPr id="557" name="Text 7"/>
          <p:cNvSpPr txBox="1"/>
          <p:nvPr/>
        </p:nvSpPr>
        <p:spPr>
          <a:xfrm>
            <a:off x="2697479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Vista settimanale: giorno, ora, corso, maestra e sala. Riflette la tabella LEZIONE.</a:t>
            </a:r>
          </a:p>
        </p:txBody>
      </p:sp>
      <p:sp>
        <p:nvSpPr>
          <p:cNvPr id="558" name="Shape 8"/>
          <p:cNvSpPr/>
          <p:nvPr/>
        </p:nvSpPr>
        <p:spPr>
          <a:xfrm>
            <a:off x="4709159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9" name="Shape 9"/>
          <p:cNvSpPr/>
          <p:nvPr/>
        </p:nvSpPr>
        <p:spPr>
          <a:xfrm>
            <a:off x="4818888" y="1207008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6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46320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61" name="Shape 10"/>
          <p:cNvSpPr/>
          <p:nvPr/>
        </p:nvSpPr>
        <p:spPr>
          <a:xfrm>
            <a:off x="6949440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62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31735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Text 11"/>
          <p:cNvSpPr txBox="1"/>
          <p:nvPr/>
        </p:nvSpPr>
        <p:spPr>
          <a:xfrm>
            <a:off x="7424928" y="1375463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Gestione Allieve</a:t>
            </a:r>
          </a:p>
        </p:txBody>
      </p:sp>
      <p:sp>
        <p:nvSpPr>
          <p:cNvPr id="564" name="Text 12"/>
          <p:cNvSpPr txBox="1"/>
          <p:nvPr/>
        </p:nvSpPr>
        <p:spPr>
          <a:xfrm>
            <a:off x="6949440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Elenco iscritte con corso, contatti e stato del certificato medico. Tabella ALLIEVA.</a:t>
            </a:r>
          </a:p>
        </p:txBody>
      </p:sp>
      <p:sp>
        <p:nvSpPr>
          <p:cNvPr id="565" name="Shape 13"/>
          <p:cNvSpPr/>
          <p:nvPr/>
        </p:nvSpPr>
        <p:spPr>
          <a:xfrm>
            <a:off x="457200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" name="Shape 14"/>
          <p:cNvSpPr/>
          <p:nvPr/>
        </p:nvSpPr>
        <p:spPr>
          <a:xfrm>
            <a:off x="566927" y="3063239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67" name="Image 5" descr="Imag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94359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Shape 15"/>
          <p:cNvSpPr/>
          <p:nvPr/>
        </p:nvSpPr>
        <p:spPr>
          <a:xfrm>
            <a:off x="2697479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69" name="Image 6" descr="Imag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79776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Text 16"/>
          <p:cNvSpPr txBox="1"/>
          <p:nvPr/>
        </p:nvSpPr>
        <p:spPr>
          <a:xfrm>
            <a:off x="3172967" y="3231695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Dettaglio Allieva</a:t>
            </a:r>
          </a:p>
        </p:txBody>
      </p:sp>
      <p:sp>
        <p:nvSpPr>
          <p:cNvPr id="571" name="Text 17"/>
          <p:cNvSpPr txBox="1"/>
          <p:nvPr/>
        </p:nvSpPr>
        <p:spPr>
          <a:xfrm>
            <a:off x="2697479" y="3593591"/>
            <a:ext cx="1600201" cy="533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Scheda personale con pagamenti e costumi assegnati. Unisce ALLIEVA, PAGAMENTO e ASSEGNAZIONE.</a:t>
            </a:r>
          </a:p>
        </p:txBody>
      </p:sp>
      <p:sp>
        <p:nvSpPr>
          <p:cNvPr id="572" name="Shape 18"/>
          <p:cNvSpPr/>
          <p:nvPr/>
        </p:nvSpPr>
        <p:spPr>
          <a:xfrm>
            <a:off x="4709159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Shape 19"/>
          <p:cNvSpPr/>
          <p:nvPr/>
        </p:nvSpPr>
        <p:spPr>
          <a:xfrm>
            <a:off x="4818888" y="3063239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74" name="Image 7" descr="Imag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46320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75" name="Shape 20"/>
          <p:cNvSpPr/>
          <p:nvPr/>
        </p:nvSpPr>
        <p:spPr>
          <a:xfrm>
            <a:off x="6949440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76" name="Image 8" descr="Imag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031735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Text 21"/>
          <p:cNvSpPr txBox="1"/>
          <p:nvPr/>
        </p:nvSpPr>
        <p:spPr>
          <a:xfrm>
            <a:off x="7424928" y="3231695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Corpo Docente</a:t>
            </a:r>
          </a:p>
        </p:txBody>
      </p:sp>
      <p:sp>
        <p:nvSpPr>
          <p:cNvPr id="578" name="Text 22"/>
          <p:cNvSpPr txBox="1"/>
          <p:nvPr/>
        </p:nvSpPr>
        <p:spPr>
          <a:xfrm>
            <a:off x="6949440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Card con specializzazione, contatti e compenso mensile. Tabella MAESTRA.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A26769"/>
                </a:solidFill>
              </a:defRPr>
            </a:lvl1pPr>
          </a:lstStyle>
          <a:p>
            <a:pPr/>
            <a:r>
              <a:t>INTERFACCIA WEB</a:t>
            </a:r>
          </a:p>
        </p:txBody>
      </p:sp>
      <p:sp>
        <p:nvSpPr>
          <p:cNvPr id="583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Corsi, Pagamenti, Saggio e Costumi</a:t>
            </a:r>
          </a:p>
        </p:txBody>
      </p:sp>
      <p:sp>
        <p:nvSpPr>
          <p:cNvPr id="584" name="Shape 3"/>
          <p:cNvSpPr/>
          <p:nvPr/>
        </p:nvSpPr>
        <p:spPr>
          <a:xfrm>
            <a:off x="457200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" name="Shape 4"/>
          <p:cNvSpPr/>
          <p:nvPr/>
        </p:nvSpPr>
        <p:spPr>
          <a:xfrm>
            <a:off x="566927" y="1207008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8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359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Shape 5"/>
          <p:cNvSpPr/>
          <p:nvPr/>
        </p:nvSpPr>
        <p:spPr>
          <a:xfrm>
            <a:off x="2697479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8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79776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Text 6"/>
          <p:cNvSpPr txBox="1"/>
          <p:nvPr/>
        </p:nvSpPr>
        <p:spPr>
          <a:xfrm>
            <a:off x="3172967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Offerta Formativa</a:t>
            </a:r>
          </a:p>
        </p:txBody>
      </p:sp>
      <p:sp>
        <p:nvSpPr>
          <p:cNvPr id="590" name="Text 7"/>
          <p:cNvSpPr txBox="1"/>
          <p:nvPr/>
        </p:nvSpPr>
        <p:spPr>
          <a:xfrm>
            <a:off x="2697479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Card dei corsi: nome, livello, fascia d'età e maestra. Tabella CORSO con FK id_maestra.</a:t>
            </a:r>
          </a:p>
        </p:txBody>
      </p:sp>
      <p:sp>
        <p:nvSpPr>
          <p:cNvPr id="591" name="Shape 8"/>
          <p:cNvSpPr/>
          <p:nvPr/>
        </p:nvSpPr>
        <p:spPr>
          <a:xfrm>
            <a:off x="4709159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" name="Shape 9"/>
          <p:cNvSpPr/>
          <p:nvPr/>
        </p:nvSpPr>
        <p:spPr>
          <a:xfrm>
            <a:off x="4818888" y="1207008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59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46320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Shape 10"/>
          <p:cNvSpPr/>
          <p:nvPr/>
        </p:nvSpPr>
        <p:spPr>
          <a:xfrm>
            <a:off x="6949440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9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031735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Text 11"/>
          <p:cNvSpPr txBox="1"/>
          <p:nvPr/>
        </p:nvSpPr>
        <p:spPr>
          <a:xfrm>
            <a:off x="7424928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Pagamenti Allieve</a:t>
            </a:r>
          </a:p>
        </p:txBody>
      </p:sp>
      <p:sp>
        <p:nvSpPr>
          <p:cNvPr id="597" name="Text 12"/>
          <p:cNvSpPr txBox="1"/>
          <p:nvPr/>
        </p:nvSpPr>
        <p:spPr>
          <a:xfrm>
            <a:off x="6949440" y="1737360"/>
            <a:ext cx="1600201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Elenco quote con stato (Pagato / Da pagare) e azione "Segna Pagato". Tabella PAGAMENTO_ALLIEVA.</a:t>
            </a:r>
          </a:p>
        </p:txBody>
      </p:sp>
      <p:sp>
        <p:nvSpPr>
          <p:cNvPr id="598" name="Shape 13"/>
          <p:cNvSpPr/>
          <p:nvPr/>
        </p:nvSpPr>
        <p:spPr>
          <a:xfrm>
            <a:off x="457200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" name="Shape 14"/>
          <p:cNvSpPr/>
          <p:nvPr/>
        </p:nvSpPr>
        <p:spPr>
          <a:xfrm>
            <a:off x="566927" y="3063239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600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94359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601" name="Shape 15"/>
          <p:cNvSpPr/>
          <p:nvPr/>
        </p:nvSpPr>
        <p:spPr>
          <a:xfrm>
            <a:off x="2697479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2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79776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Text 16"/>
          <p:cNvSpPr txBox="1"/>
          <p:nvPr/>
        </p:nvSpPr>
        <p:spPr>
          <a:xfrm>
            <a:off x="3172967" y="3136445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Gran Galà — Saggio</a:t>
            </a:r>
          </a:p>
        </p:txBody>
      </p:sp>
      <p:sp>
        <p:nvSpPr>
          <p:cNvPr id="604" name="Text 17"/>
          <p:cNvSpPr txBox="1"/>
          <p:nvPr/>
        </p:nvSpPr>
        <p:spPr>
          <a:xfrm>
            <a:off x="2697479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Coreografie organizzate per atto con musica e durata. Tabelle SAGGIO e COREOGRAFIA.</a:t>
            </a:r>
          </a:p>
        </p:txBody>
      </p:sp>
      <p:sp>
        <p:nvSpPr>
          <p:cNvPr id="605" name="Shape 18"/>
          <p:cNvSpPr/>
          <p:nvPr/>
        </p:nvSpPr>
        <p:spPr>
          <a:xfrm>
            <a:off x="4709159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Shape 19"/>
          <p:cNvSpPr/>
          <p:nvPr/>
        </p:nvSpPr>
        <p:spPr>
          <a:xfrm>
            <a:off x="4818888" y="3063239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607" name="Image 7" descr="Imag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46320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608" name="Shape 20"/>
          <p:cNvSpPr/>
          <p:nvPr/>
        </p:nvSpPr>
        <p:spPr>
          <a:xfrm>
            <a:off x="6949440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9" name="Image 8" descr="Imag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031735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Text 21"/>
          <p:cNvSpPr txBox="1"/>
          <p:nvPr/>
        </p:nvSpPr>
        <p:spPr>
          <a:xfrm>
            <a:off x="7424928" y="3136445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D2E46"/>
                </a:solidFill>
              </a:defRPr>
            </a:lvl1pPr>
          </a:lstStyle>
          <a:p>
            <a:pPr/>
            <a:r>
              <a:t>Gestione Costumi</a:t>
            </a:r>
          </a:p>
        </p:txBody>
      </p:sp>
      <p:sp>
        <p:nvSpPr>
          <p:cNvPr id="611" name="Text 22"/>
          <p:cNvSpPr txBox="1"/>
          <p:nvPr/>
        </p:nvSpPr>
        <p:spPr>
          <a:xfrm>
            <a:off x="6949440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pPr/>
            <a:r>
              <a:t>Assegnazione costumi: pagato e consegnato. La relazione ternaria ASSEGNAZIONE_COSTUMI.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A26769"/>
                </a:solidFill>
              </a:defRPr>
            </a:lvl1pPr>
          </a:lstStyle>
          <a:p>
            <a:pPr/>
            <a:r>
              <a:t>IMPLEMENTAZIONE</a:t>
            </a:r>
          </a:p>
        </p:txBody>
      </p:sp>
      <p:sp>
        <p:nvSpPr>
          <p:cNvPr id="616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Stack tecnologico</a:t>
            </a:r>
          </a:p>
        </p:txBody>
      </p:sp>
      <p:sp>
        <p:nvSpPr>
          <p:cNvPr id="617" name="Shape 3"/>
          <p:cNvSpPr/>
          <p:nvPr/>
        </p:nvSpPr>
        <p:spPr>
          <a:xfrm>
            <a:off x="457200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" name="Shape 4"/>
          <p:cNvSpPr/>
          <p:nvPr/>
        </p:nvSpPr>
        <p:spPr>
          <a:xfrm>
            <a:off x="640080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1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4380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0" name="Text 5"/>
          <p:cNvSpPr txBox="1"/>
          <p:nvPr/>
        </p:nvSpPr>
        <p:spPr>
          <a:xfrm>
            <a:off x="1207008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Django</a:t>
            </a:r>
          </a:p>
        </p:txBody>
      </p:sp>
      <p:sp>
        <p:nvSpPr>
          <p:cNvPr id="621" name="Text 6"/>
          <p:cNvSpPr txBox="1"/>
          <p:nvPr/>
        </p:nvSpPr>
        <p:spPr>
          <a:xfrm>
            <a:off x="658368" y="2239816"/>
            <a:ext cx="228600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Framework Python per lo sviluppo della web application, con struttura a progetto e app.</a:t>
            </a:r>
          </a:p>
        </p:txBody>
      </p:sp>
      <p:sp>
        <p:nvSpPr>
          <p:cNvPr id="622" name="Shape 7"/>
          <p:cNvSpPr/>
          <p:nvPr/>
        </p:nvSpPr>
        <p:spPr>
          <a:xfrm>
            <a:off x="3319271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" name="Shape 8"/>
          <p:cNvSpPr/>
          <p:nvPr/>
        </p:nvSpPr>
        <p:spPr>
          <a:xfrm>
            <a:off x="3502152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2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16452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5" name="Text 9"/>
          <p:cNvSpPr txBox="1"/>
          <p:nvPr/>
        </p:nvSpPr>
        <p:spPr>
          <a:xfrm>
            <a:off x="4069079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SQLite</a:t>
            </a:r>
          </a:p>
        </p:txBody>
      </p:sp>
      <p:sp>
        <p:nvSpPr>
          <p:cNvPr id="626" name="Text 10"/>
          <p:cNvSpPr txBox="1"/>
          <p:nvPr/>
        </p:nvSpPr>
        <p:spPr>
          <a:xfrm>
            <a:off x="3520440" y="232236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Database relazionale che memorizza i dati secondo lo schema logico progettato.</a:t>
            </a:r>
          </a:p>
        </p:txBody>
      </p:sp>
      <p:sp>
        <p:nvSpPr>
          <p:cNvPr id="627" name="Shape 11"/>
          <p:cNvSpPr/>
          <p:nvPr/>
        </p:nvSpPr>
        <p:spPr>
          <a:xfrm>
            <a:off x="6181344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" name="Shape 12"/>
          <p:cNvSpPr/>
          <p:nvPr/>
        </p:nvSpPr>
        <p:spPr>
          <a:xfrm>
            <a:off x="6364223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2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8523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30" name="Text 13"/>
          <p:cNvSpPr txBox="1"/>
          <p:nvPr/>
        </p:nvSpPr>
        <p:spPr>
          <a:xfrm>
            <a:off x="6931152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Template HTML</a:t>
            </a:r>
          </a:p>
        </p:txBody>
      </p:sp>
      <p:sp>
        <p:nvSpPr>
          <p:cNvPr id="631" name="Text 14"/>
          <p:cNvSpPr txBox="1"/>
          <p:nvPr/>
        </p:nvSpPr>
        <p:spPr>
          <a:xfrm>
            <a:off x="6382511" y="232236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Le pagine dell'interfaccia utente: dashboard, gestione allieve, corsi, saggi.</a:t>
            </a:r>
          </a:p>
        </p:txBody>
      </p:sp>
      <p:sp>
        <p:nvSpPr>
          <p:cNvPr id="632" name="Shape 15"/>
          <p:cNvSpPr/>
          <p:nvPr/>
        </p:nvSpPr>
        <p:spPr>
          <a:xfrm>
            <a:off x="457200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" name="Shape 16"/>
          <p:cNvSpPr/>
          <p:nvPr/>
        </p:nvSpPr>
        <p:spPr>
          <a:xfrm>
            <a:off x="640080" y="324612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34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54380" y="336042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Text 17"/>
          <p:cNvSpPr txBox="1"/>
          <p:nvPr/>
        </p:nvSpPr>
        <p:spPr>
          <a:xfrm>
            <a:off x="1207008" y="33846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CSS</a:t>
            </a:r>
          </a:p>
        </p:txBody>
      </p:sp>
      <p:sp>
        <p:nvSpPr>
          <p:cNvPr id="636" name="Text 18"/>
          <p:cNvSpPr txBox="1"/>
          <p:nvPr/>
        </p:nvSpPr>
        <p:spPr>
          <a:xfrm>
            <a:off x="658368" y="4096556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Gestione dello stile grafico dell'applicazione.</a:t>
            </a:r>
          </a:p>
        </p:txBody>
      </p:sp>
      <p:sp>
        <p:nvSpPr>
          <p:cNvPr id="637" name="Shape 19"/>
          <p:cNvSpPr/>
          <p:nvPr/>
        </p:nvSpPr>
        <p:spPr>
          <a:xfrm>
            <a:off x="3319271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Shape 20"/>
          <p:cNvSpPr/>
          <p:nvPr/>
        </p:nvSpPr>
        <p:spPr>
          <a:xfrm>
            <a:off x="3502152" y="324612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39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16452" y="336042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ext 21"/>
          <p:cNvSpPr txBox="1"/>
          <p:nvPr/>
        </p:nvSpPr>
        <p:spPr>
          <a:xfrm>
            <a:off x="4069079" y="33846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6D2E46"/>
                </a:solidFill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641" name="Text 22"/>
          <p:cNvSpPr txBox="1"/>
          <p:nvPr/>
        </p:nvSpPr>
        <p:spPr>
          <a:xfrm>
            <a:off x="3520440" y="401400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pPr/>
            <a:r>
              <a:t>Repository per la consegna e il versionamento del progetto.</a:t>
            </a:r>
          </a:p>
        </p:txBody>
      </p:sp>
      <p:sp>
        <p:nvSpPr>
          <p:cNvPr id="642" name="Shape 23"/>
          <p:cNvSpPr/>
          <p:nvPr/>
        </p:nvSpPr>
        <p:spPr>
          <a:xfrm>
            <a:off x="6181344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6D2E4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Text 24"/>
          <p:cNvSpPr txBox="1"/>
          <p:nvPr/>
        </p:nvSpPr>
        <p:spPr>
          <a:xfrm>
            <a:off x="6400800" y="3525696"/>
            <a:ext cx="2240280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F0DEE7"/>
                </a:solidFill>
              </a:defRPr>
            </a:lvl1pPr>
          </a:lstStyle>
          <a:p>
            <a:pPr/>
            <a:r>
              <a:t>La dashboard principale permette di consultare e aggiornare tutti i dati della scuola da un'unica interfaccia web.</a:t>
            </a:r>
          </a:p>
        </p:txBody>
      </p:sp>
      <p:sp>
        <p:nvSpPr>
          <p:cNvPr id="644" name="Text 2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pPr/>
            <a:r>
              <a:t>34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/>
          <p:cNvSpPr/>
          <p:nvPr/>
        </p:nvSpPr>
        <p:spPr>
          <a:xfrm>
            <a:off x="6766559" y="-2011681"/>
            <a:ext cx="5120641" cy="51206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Shape 1"/>
          <p:cNvSpPr/>
          <p:nvPr/>
        </p:nvSpPr>
        <p:spPr>
          <a:xfrm>
            <a:off x="-1645921" y="3566159"/>
            <a:ext cx="3657601" cy="36576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Text 2"/>
          <p:cNvSpPr txBox="1"/>
          <p:nvPr/>
        </p:nvSpPr>
        <p:spPr>
          <a:xfrm>
            <a:off x="640080" y="58450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E5CBD7"/>
                </a:solidFill>
              </a:defRPr>
            </a:lvl1pPr>
          </a:lstStyle>
          <a:p>
            <a:pPr/>
            <a:r>
              <a:t>CONCLUSIONI</a:t>
            </a:r>
          </a:p>
        </p:txBody>
      </p:sp>
      <p:sp>
        <p:nvSpPr>
          <p:cNvPr id="649" name="Text 3"/>
          <p:cNvSpPr txBox="1"/>
          <p:nvPr/>
        </p:nvSpPr>
        <p:spPr>
          <a:xfrm>
            <a:off x="640079" y="982980"/>
            <a:ext cx="786384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Un sistema informativo completo,</a:t>
            </a:r>
          </a:p>
          <a:p>
            <a: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dalla teoria alla pratica</a:t>
            </a:r>
          </a:p>
        </p:txBody>
      </p:sp>
      <p:sp>
        <p:nvSpPr>
          <p:cNvPr id="650" name="Shape 4"/>
          <p:cNvSpPr/>
          <p:nvPr/>
        </p:nvSpPr>
        <p:spPr>
          <a:xfrm>
            <a:off x="640080" y="2240279"/>
            <a:ext cx="3840480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1" name="Shape 5"/>
          <p:cNvSpPr/>
          <p:nvPr/>
        </p:nvSpPr>
        <p:spPr>
          <a:xfrm>
            <a:off x="786383" y="248716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683" y="26014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Text 6"/>
          <p:cNvSpPr txBox="1"/>
          <p:nvPr/>
        </p:nvSpPr>
        <p:spPr>
          <a:xfrm>
            <a:off x="1371599" y="2550204"/>
            <a:ext cx="3017522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Requisiti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Dal linguaggio naturale alla classificazione dei concetti</a:t>
            </a:r>
          </a:p>
        </p:txBody>
      </p:sp>
      <p:sp>
        <p:nvSpPr>
          <p:cNvPr id="654" name="Shape 7"/>
          <p:cNvSpPr/>
          <p:nvPr/>
        </p:nvSpPr>
        <p:spPr>
          <a:xfrm>
            <a:off x="4709159" y="2240279"/>
            <a:ext cx="3840481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Shape 8"/>
          <p:cNvSpPr/>
          <p:nvPr/>
        </p:nvSpPr>
        <p:spPr>
          <a:xfrm>
            <a:off x="4855464" y="248716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5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69764" y="26014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Text 9"/>
          <p:cNvSpPr txBox="1"/>
          <p:nvPr/>
        </p:nvSpPr>
        <p:spPr>
          <a:xfrm>
            <a:off x="5440679" y="2467654"/>
            <a:ext cx="3017521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Modello E-R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Nove entità, relazioni con cardinalità e generalizzazione PERSONA</a:t>
            </a:r>
          </a:p>
        </p:txBody>
      </p:sp>
      <p:sp>
        <p:nvSpPr>
          <p:cNvPr id="658" name="Shape 10"/>
          <p:cNvSpPr/>
          <p:nvPr/>
        </p:nvSpPr>
        <p:spPr>
          <a:xfrm>
            <a:off x="640080" y="3337559"/>
            <a:ext cx="3840480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9" name="Shape 11"/>
          <p:cNvSpPr/>
          <p:nvPr/>
        </p:nvSpPr>
        <p:spPr>
          <a:xfrm>
            <a:off x="786383" y="358444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0683" y="369874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61" name="Text 12"/>
          <p:cNvSpPr txBox="1"/>
          <p:nvPr/>
        </p:nvSpPr>
        <p:spPr>
          <a:xfrm>
            <a:off x="1371599" y="3564934"/>
            <a:ext cx="3017522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Schema logico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Traduzione con PK e FK, conforme alla 3NF, vincoli e trigger</a:t>
            </a:r>
          </a:p>
        </p:txBody>
      </p:sp>
      <p:sp>
        <p:nvSpPr>
          <p:cNvPr id="662" name="Shape 13"/>
          <p:cNvSpPr/>
          <p:nvPr/>
        </p:nvSpPr>
        <p:spPr>
          <a:xfrm>
            <a:off x="4709159" y="3337559"/>
            <a:ext cx="3840481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3" name="Shape 14"/>
          <p:cNvSpPr/>
          <p:nvPr/>
        </p:nvSpPr>
        <p:spPr>
          <a:xfrm>
            <a:off x="4855464" y="358444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69764" y="369874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65" name="Text 15"/>
          <p:cNvSpPr txBox="1"/>
          <p:nvPr/>
        </p:nvSpPr>
        <p:spPr>
          <a:xfrm>
            <a:off x="5440679" y="3564934"/>
            <a:ext cx="3017521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Implementazione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Web application Django consultabile tramite interfaccia web</a:t>
            </a:r>
          </a:p>
        </p:txBody>
      </p:sp>
      <p:sp>
        <p:nvSpPr>
          <p:cNvPr id="666" name="Text 16"/>
          <p:cNvSpPr txBox="1"/>
          <p:nvPr/>
        </p:nvSpPr>
        <p:spPr>
          <a:xfrm>
            <a:off x="640079" y="4694359"/>
            <a:ext cx="78638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E5CBD7"/>
                </a:solidFill>
              </a:defRPr>
            </a:lvl1pPr>
          </a:lstStyle>
          <a:p>
            <a:pPr/>
            <a:r>
              <a:t>Grazie per l'attenzione  ·  Luisa Amato — Matricola 0334000245</a:t>
            </a:r>
          </a:p>
        </p:txBody>
      </p:sp>
      <p:sp>
        <p:nvSpPr>
          <p:cNvPr id="667" name="Text 17"/>
          <p:cNvSpPr txBox="1"/>
          <p:nvPr/>
        </p:nvSpPr>
        <p:spPr>
          <a:xfrm>
            <a:off x="8641080" y="4901656"/>
            <a:ext cx="365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pPr/>
            <a:r>
              <a:t>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